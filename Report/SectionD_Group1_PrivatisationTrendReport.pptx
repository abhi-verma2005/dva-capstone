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jpg" ContentType="image/jpg"/>
  <Override PartName="/ppt/slides/slide14.xml" ContentType="application/vnd.openxmlformats-officedocument.presentationml.slide+xml"/>
  <Default Extension="png" ContentType="image/pn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kaggle.com/datasets/hritikakolkar/college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jnrm.and.nic.in/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63511" y="841908"/>
            <a:ext cx="5045710" cy="10172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20500"/>
              </a:lnSpc>
              <a:spcBef>
                <a:spcPts val="100"/>
              </a:spcBef>
            </a:pPr>
            <a:r>
              <a:rPr dirty="0" sz="1800" spc="90" b="1">
                <a:solidFill>
                  <a:srgbClr val="7E6000"/>
                </a:solidFill>
                <a:latin typeface="Cambria"/>
                <a:cs typeface="Cambria"/>
              </a:rPr>
              <a:t>The</a:t>
            </a:r>
            <a:r>
              <a:rPr dirty="0" sz="1800" spc="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5" b="1">
                <a:solidFill>
                  <a:srgbClr val="7E6000"/>
                </a:solidFill>
                <a:latin typeface="Cambria"/>
                <a:cs typeface="Cambria"/>
              </a:rPr>
              <a:t>Geography</a:t>
            </a:r>
            <a:r>
              <a:rPr dirty="0" sz="1800" spc="3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5" b="1">
                <a:solidFill>
                  <a:srgbClr val="7E6000"/>
                </a:solidFill>
                <a:latin typeface="Cambria"/>
                <a:cs typeface="Cambria"/>
              </a:rPr>
              <a:t>of</a:t>
            </a:r>
            <a:r>
              <a:rPr dirty="0" sz="1800" spc="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Privatization:</a:t>
            </a:r>
            <a:r>
              <a:rPr dirty="0" sz="1800" spc="3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85" b="1">
                <a:solidFill>
                  <a:srgbClr val="7E6000"/>
                </a:solidFill>
                <a:latin typeface="Cambria"/>
                <a:cs typeface="Cambria"/>
              </a:rPr>
              <a:t>Analyzing </a:t>
            </a:r>
            <a:r>
              <a:rPr dirty="0" sz="1800" spc="60" b="1">
                <a:solidFill>
                  <a:srgbClr val="7E6000"/>
                </a:solidFill>
                <a:latin typeface="Cambria"/>
                <a:cs typeface="Cambria"/>
              </a:rPr>
              <a:t>Institutional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0" b="1">
                <a:solidFill>
                  <a:srgbClr val="7E6000"/>
                </a:solidFill>
                <a:latin typeface="Cambria"/>
                <a:cs typeface="Cambria"/>
              </a:rPr>
              <a:t>Concentration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85" b="1">
                <a:solidFill>
                  <a:srgbClr val="7E6000"/>
                </a:solidFill>
                <a:latin typeface="Cambria"/>
                <a:cs typeface="Cambria"/>
              </a:rPr>
              <a:t>in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0" b="1">
                <a:solidFill>
                  <a:srgbClr val="7E6000"/>
                </a:solidFill>
                <a:latin typeface="Cambria"/>
                <a:cs typeface="Cambria"/>
              </a:rPr>
              <a:t>Indian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0" b="1">
                <a:solidFill>
                  <a:srgbClr val="7E6000"/>
                </a:solidFill>
                <a:latin typeface="Cambria"/>
                <a:cs typeface="Cambria"/>
              </a:rPr>
              <a:t>Higher 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Education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48962" y="2560897"/>
            <a:ext cx="3274695" cy="321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heavy" sz="14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Sector</a:t>
            </a:r>
            <a:r>
              <a:rPr dirty="0" sz="1400" spc="9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8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400" spc="9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7E6000"/>
                </a:solidFill>
                <a:latin typeface="Times New Roman"/>
                <a:cs typeface="Times New Roman"/>
              </a:rPr>
              <a:t>Education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u="heavy" sz="14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Team</a:t>
            </a:r>
            <a:r>
              <a:rPr dirty="0" u="heavy" sz="1400" spc="12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4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Details</a:t>
            </a:r>
            <a:r>
              <a:rPr dirty="0" sz="1400" spc="1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8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400" spc="1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7E6000"/>
                </a:solidFill>
                <a:latin typeface="Cambria"/>
                <a:cs typeface="Cambria"/>
              </a:rPr>
              <a:t>Team</a:t>
            </a:r>
            <a:r>
              <a:rPr dirty="0" sz="1400" spc="1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90" b="1">
                <a:solidFill>
                  <a:srgbClr val="7E6000"/>
                </a:solidFill>
                <a:latin typeface="Cambria"/>
                <a:cs typeface="Cambria"/>
              </a:rPr>
              <a:t>G-</a:t>
            </a:r>
            <a:r>
              <a:rPr dirty="0" sz="1400" b="1">
                <a:solidFill>
                  <a:srgbClr val="7E6000"/>
                </a:solidFill>
                <a:latin typeface="Cambria"/>
                <a:cs typeface="Cambria"/>
              </a:rPr>
              <a:t>1</a:t>
            </a:r>
            <a:r>
              <a:rPr dirty="0" sz="1400" spc="1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7E6000"/>
                </a:solidFill>
                <a:latin typeface="Cambria"/>
                <a:cs typeface="Cambria"/>
              </a:rPr>
              <a:t>(Section-</a:t>
            </a:r>
            <a:r>
              <a:rPr dirty="0" sz="1400" spc="-25" b="1">
                <a:solidFill>
                  <a:srgbClr val="7E6000"/>
                </a:solidFill>
                <a:latin typeface="Cambria"/>
                <a:cs typeface="Cambria"/>
              </a:rPr>
              <a:t>D)</a:t>
            </a:r>
            <a:endParaRPr sz="1400">
              <a:latin typeface="Cambria"/>
              <a:cs typeface="Cambria"/>
            </a:endParaRPr>
          </a:p>
          <a:p>
            <a:pPr marL="866775" indent="-227965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86677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Gauri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Mehrotra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(2401010170)</a:t>
            </a:r>
            <a:endParaRPr sz="1200">
              <a:latin typeface="Times New Roman"/>
              <a:cs typeface="Times New Roman"/>
            </a:endParaRPr>
          </a:p>
          <a:p>
            <a:pPr marL="922019" indent="-227965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922019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Milind</a:t>
            </a:r>
            <a:r>
              <a:rPr dirty="0" sz="1200" spc="2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Bansal</a:t>
            </a:r>
            <a:r>
              <a:rPr dirty="0" sz="1200" spc="2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(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2401010277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834390" indent="-227965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834390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Sambhav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Kumar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(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2401010409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835660" indent="-22796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835660" algn="l"/>
              </a:tabLst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Abhishek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Verma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(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2401010023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634365" indent="-227965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634365" algn="l"/>
              </a:tabLst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Abhishek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Kumar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Patel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(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2401010020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830580" indent="-227965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830580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Himank</a:t>
            </a:r>
            <a:r>
              <a:rPr dirty="0" sz="1200" spc="1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Kaushik</a:t>
            </a:r>
            <a:r>
              <a:rPr dirty="0" sz="1200" spc="1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(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2401010187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u="heavy" sz="14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Institute</a:t>
            </a:r>
            <a:r>
              <a:rPr dirty="0" sz="1400" spc="18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8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400" spc="18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7E6000"/>
                </a:solidFill>
                <a:latin typeface="Times New Roman"/>
                <a:cs typeface="Times New Roman"/>
              </a:rPr>
              <a:t>Newton</a:t>
            </a:r>
            <a:r>
              <a:rPr dirty="0" sz="1400" spc="90">
                <a:solidFill>
                  <a:srgbClr val="7E600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7E6000"/>
                </a:solidFill>
                <a:latin typeface="Times New Roman"/>
                <a:cs typeface="Times New Roman"/>
              </a:rPr>
              <a:t>School</a:t>
            </a:r>
            <a:r>
              <a:rPr dirty="0" sz="1400" spc="90">
                <a:solidFill>
                  <a:srgbClr val="7E600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7E6000"/>
                </a:solidFill>
                <a:latin typeface="Times New Roman"/>
                <a:cs typeface="Times New Roman"/>
              </a:rPr>
              <a:t>of</a:t>
            </a:r>
            <a:r>
              <a:rPr dirty="0" sz="1400" spc="95">
                <a:solidFill>
                  <a:srgbClr val="7E6000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7E6000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u="heavy" sz="14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Faculty</a:t>
            </a:r>
            <a:r>
              <a:rPr dirty="0" sz="1400" spc="17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 spc="8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400" spc="18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7E6000"/>
                </a:solidFill>
                <a:latin typeface="Times New Roman"/>
                <a:cs typeface="Times New Roman"/>
              </a:rPr>
              <a:t>Mr.</a:t>
            </a:r>
            <a:r>
              <a:rPr dirty="0" sz="1400" spc="85">
                <a:solidFill>
                  <a:srgbClr val="7E600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7E6000"/>
                </a:solidFill>
                <a:latin typeface="Times New Roman"/>
                <a:cs typeface="Times New Roman"/>
              </a:rPr>
              <a:t>Archit</a:t>
            </a:r>
            <a:r>
              <a:rPr dirty="0" sz="1400" spc="85">
                <a:solidFill>
                  <a:srgbClr val="7E6000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7E6000"/>
                </a:solidFill>
                <a:latin typeface="Times New Roman"/>
                <a:cs typeface="Times New Roman"/>
              </a:rPr>
              <a:t>Raj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98042"/>
            <a:ext cx="5875655" cy="4008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3345">
              <a:lnSpc>
                <a:spcPct val="100000"/>
              </a:lnSpc>
              <a:spcBef>
                <a:spcPts val="100"/>
              </a:spcBef>
            </a:pP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Executive</a:t>
            </a:r>
            <a:r>
              <a:rPr dirty="0" sz="18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00" b="1">
                <a:solidFill>
                  <a:srgbClr val="7E6000"/>
                </a:solidFill>
                <a:latin typeface="Cambria"/>
                <a:cs typeface="Cambria"/>
              </a:rPr>
              <a:t>Summary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26400"/>
              </a:lnSpc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Problem</a:t>
            </a:r>
            <a:r>
              <a:rPr dirty="0" u="heavy" sz="1800" spc="17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Statement</a:t>
            </a:r>
            <a:r>
              <a:rPr dirty="0" sz="1800" spc="18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14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15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Investigating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whether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colleges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India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regionally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concentrated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or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evenly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distributed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across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the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country.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Approach</a:t>
            </a:r>
            <a:r>
              <a:rPr dirty="0" sz="1800" spc="17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900" spc="11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900" spc="15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comparative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India,</a:t>
            </a:r>
            <a:endParaRPr sz="1200">
              <a:latin typeface="Times New Roman"/>
              <a:cs typeface="Times New Roman"/>
            </a:endParaRPr>
          </a:p>
          <a:p>
            <a:pPr marL="12700" marR="880110">
              <a:lnSpc>
                <a:spcPct val="127000"/>
              </a:lnSpc>
              <a:spcBef>
                <a:spcPts val="200"/>
              </a:spcBef>
            </a:pP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mapping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types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against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level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regional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demographics.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Key</a:t>
            </a:r>
            <a:r>
              <a:rPr dirty="0" u="heavy" sz="1800" spc="2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Insights</a:t>
            </a:r>
            <a:r>
              <a:rPr dirty="0" sz="1800" spc="21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584200" marR="252095" indent="-228600">
              <a:lnSpc>
                <a:spcPct val="127000"/>
              </a:lnSpc>
              <a:spcBef>
                <a:spcPts val="175"/>
              </a:spcBef>
              <a:buFont typeface="Tahoma"/>
              <a:buChar char="●"/>
              <a:tabLst>
                <a:tab pos="584200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account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62.74%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total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colleges,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indicating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dominance.</a:t>
            </a:r>
            <a:endParaRPr sz="1200">
              <a:latin typeface="Times New Roman"/>
              <a:cs typeface="Times New Roman"/>
            </a:endParaRPr>
          </a:p>
          <a:p>
            <a:pPr marL="584200" marR="215265" indent="-228600">
              <a:lnSpc>
                <a:spcPct val="127000"/>
              </a:lnSpc>
              <a:buFont typeface="Tahoma"/>
              <a:buChar char="●"/>
              <a:tabLst>
                <a:tab pos="584200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universities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uneven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concentrated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states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such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as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Telangana,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Karnataka,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Maharashtra.</a:t>
            </a:r>
            <a:endParaRPr sz="1200">
              <a:latin typeface="Times New Roman"/>
              <a:cs typeface="Times New Roman"/>
            </a:endParaRPr>
          </a:p>
          <a:p>
            <a:pPr marL="5835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5835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have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driven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majority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expansion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since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2000.</a:t>
            </a:r>
            <a:endParaRPr sz="1200">
              <a:latin typeface="Times New Roman"/>
              <a:cs typeface="Times New Roman"/>
            </a:endParaRPr>
          </a:p>
          <a:p>
            <a:pPr marL="5835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5835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Forecasting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suggests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continued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growth,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primarily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led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by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700" y="5763790"/>
            <a:ext cx="5967730" cy="299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Sector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7E6000"/>
                </a:solidFill>
                <a:latin typeface="Cambria"/>
                <a:cs typeface="Cambria"/>
              </a:rPr>
              <a:t>&amp;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5" b="1">
                <a:solidFill>
                  <a:srgbClr val="7E6000"/>
                </a:solidFill>
                <a:latin typeface="Cambria"/>
                <a:cs typeface="Cambria"/>
              </a:rPr>
              <a:t>Business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Context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800">
              <a:latin typeface="Cambria"/>
              <a:cs typeface="Cambria"/>
            </a:endParaRPr>
          </a:p>
          <a:p>
            <a:pPr marL="12700" marR="400685">
              <a:lnSpc>
                <a:spcPct val="125899"/>
              </a:lnSpc>
              <a:spcBef>
                <a:spcPts val="5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Sector</a:t>
            </a:r>
            <a:r>
              <a:rPr dirty="0" u="heavy" sz="1800" spc="13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Overview</a:t>
            </a:r>
            <a:r>
              <a:rPr dirty="0" sz="1800" spc="1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14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-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India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has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one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largest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systems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globally,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seeing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massive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shift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toward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ownership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last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decade.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Current</a:t>
            </a:r>
            <a:r>
              <a:rPr dirty="0" u="heavy" sz="1800" spc="19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4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Challenges</a:t>
            </a:r>
            <a:r>
              <a:rPr dirty="0" sz="1800" spc="19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600" spc="9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6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region-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disparities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12700" marR="290830">
              <a:lnSpc>
                <a:spcPct val="127000"/>
              </a:lnSpc>
              <a:spcBef>
                <a:spcPts val="170"/>
              </a:spcBef>
            </a:pP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expansion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of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universities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remain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significant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challenge,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with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growth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concentrated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select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centers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rather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than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being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evenly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distributed across</a:t>
            </a:r>
            <a:r>
              <a:rPr dirty="0" sz="1200" spc="-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country.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120"/>
              </a:lnSpc>
              <a:spcBef>
                <a:spcPts val="430"/>
              </a:spcBef>
            </a:pPr>
            <a:r>
              <a:rPr dirty="0" u="heavy" sz="1800" spc="6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Why</a:t>
            </a:r>
            <a:r>
              <a:rPr dirty="0" u="heavy" sz="1800" spc="14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this</a:t>
            </a:r>
            <a:r>
              <a:rPr dirty="0" u="heavy" sz="1800" spc="14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problem</a:t>
            </a:r>
            <a:r>
              <a:rPr dirty="0" u="heavy" sz="1800" spc="14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was</a:t>
            </a:r>
            <a:r>
              <a:rPr dirty="0" u="heavy" sz="1800" spc="14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chosen</a:t>
            </a:r>
            <a:r>
              <a:rPr dirty="0" sz="1800" spc="11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700" spc="10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700" spc="-1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determine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if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market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forces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are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naturally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excluding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geographic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populations.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98042"/>
            <a:ext cx="5948045" cy="2767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100"/>
              </a:spcBef>
            </a:pP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Problem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0" b="1">
                <a:solidFill>
                  <a:srgbClr val="7E6000"/>
                </a:solidFill>
                <a:latin typeface="Cambria"/>
                <a:cs typeface="Cambria"/>
              </a:rPr>
              <a:t>Statement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7E6000"/>
                </a:solidFill>
                <a:latin typeface="Cambria"/>
                <a:cs typeface="Cambria"/>
              </a:rPr>
              <a:t>&amp;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40" b="1">
                <a:solidFill>
                  <a:srgbClr val="7E6000"/>
                </a:solidFill>
                <a:latin typeface="Cambria"/>
                <a:cs typeface="Cambria"/>
              </a:rPr>
              <a:t>Objectives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26400"/>
              </a:lnSpc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Problem</a:t>
            </a:r>
            <a:r>
              <a:rPr dirty="0" u="heavy" sz="1800" spc="2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Statement</a:t>
            </a:r>
            <a:r>
              <a:rPr dirty="0" sz="1800" spc="18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700" spc="10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700" spc="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Does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increase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in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5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participation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correlate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with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geographic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concentration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Indian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or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locations?</a:t>
            </a:r>
            <a:endParaRPr sz="1200">
              <a:latin typeface="Times New Roman"/>
              <a:cs typeface="Times New Roman"/>
            </a:endParaRPr>
          </a:p>
          <a:p>
            <a:pPr marL="12700" marR="50800">
              <a:lnSpc>
                <a:spcPts val="2120"/>
              </a:lnSpc>
              <a:spcBef>
                <a:spcPts val="520"/>
              </a:spcBef>
            </a:pP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Project</a:t>
            </a:r>
            <a:r>
              <a:rPr dirty="0" u="heavy" sz="1800" spc="14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Scope</a:t>
            </a:r>
            <a:r>
              <a:rPr dirty="0" sz="1800" spc="11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700" spc="10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700" spc="13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India,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with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focus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on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vs.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central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universities.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120"/>
              </a:lnSpc>
              <a:spcBef>
                <a:spcPts val="245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Success</a:t>
            </a:r>
            <a:r>
              <a:rPr dirty="0" u="heavy" sz="1800" spc="15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Criteria</a:t>
            </a:r>
            <a:r>
              <a:rPr dirty="0" sz="1800" spc="1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14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1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Identification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correlation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between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ownership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well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rural–urban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700" y="4523463"/>
            <a:ext cx="5949950" cy="441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100"/>
              </a:spcBef>
            </a:pP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Data</a:t>
            </a:r>
            <a:r>
              <a:rPr dirty="0" sz="18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Description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917700" algn="l"/>
              </a:tabLst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Dataset</a:t>
            </a:r>
            <a:r>
              <a:rPr dirty="0" u="heavy" sz="1800" spc="24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Source</a:t>
            </a:r>
            <a:r>
              <a:rPr dirty="0" sz="1800" spc="28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900" spc="6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900" b="1">
                <a:solidFill>
                  <a:srgbClr val="7E6000"/>
                </a:solidFill>
                <a:latin typeface="Cambria"/>
                <a:cs typeface="Cambria"/>
              </a:rPr>
              <a:t>	</a:t>
            </a:r>
            <a:r>
              <a:rPr dirty="0" u="heavy" sz="1200" spc="60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Times New Roman"/>
                <a:cs typeface="Times New Roman"/>
                <a:hlinkClick r:id="rId2"/>
              </a:rPr>
              <a:t>Dataset</a:t>
            </a:r>
            <a:r>
              <a:rPr dirty="0" u="heavy" sz="1200" spc="10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heavy" sz="1200" spc="-20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Times New Roman"/>
                <a:cs typeface="Times New Roman"/>
                <a:hlinkClick r:id="rId2"/>
              </a:rPr>
              <a:t>Link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25899"/>
              </a:lnSpc>
              <a:spcBef>
                <a:spcPts val="55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800" spc="15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Structure</a:t>
            </a:r>
            <a:r>
              <a:rPr dirty="0" sz="1800" spc="1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14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16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Relational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tables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including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names,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State,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District,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Management.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u="heavy" sz="1800" spc="4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Columns</a:t>
            </a:r>
            <a:r>
              <a:rPr dirty="0" sz="1800" spc="3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14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7E6000"/>
                </a:solidFill>
                <a:latin typeface="Cambria"/>
                <a:cs typeface="Cambria"/>
              </a:rPr>
              <a:t>(14</a:t>
            </a:r>
            <a:r>
              <a:rPr dirty="0" sz="18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7E6000"/>
                </a:solidFill>
                <a:latin typeface="Cambria"/>
                <a:cs typeface="Cambria"/>
              </a:rPr>
              <a:t>columns)</a:t>
            </a:r>
            <a:endParaRPr sz="18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56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State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District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University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AF8300"/>
                </a:solidFill>
                <a:latin typeface="Cambria"/>
                <a:cs typeface="Cambria"/>
              </a:rPr>
              <a:t>Type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University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AF8300"/>
                </a:solidFill>
                <a:latin typeface="Cambria"/>
                <a:cs typeface="Cambria"/>
              </a:rPr>
              <a:t>Name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College</a:t>
            </a:r>
            <a:r>
              <a:rPr dirty="0" sz="1200" spc="2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AF8300"/>
                </a:solidFill>
                <a:latin typeface="Cambria"/>
                <a:cs typeface="Cambria"/>
              </a:rPr>
              <a:t>Name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College</a:t>
            </a:r>
            <a:r>
              <a:rPr dirty="0" sz="1200" spc="2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AF8300"/>
                </a:solidFill>
                <a:latin typeface="Cambria"/>
                <a:cs typeface="Cambria"/>
              </a:rPr>
              <a:t>Type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Address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Website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Management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Year</a:t>
            </a:r>
            <a:r>
              <a:rPr dirty="0" sz="1200" spc="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of</a:t>
            </a:r>
            <a:r>
              <a:rPr dirty="0" sz="1200" spc="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Establishment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58305"/>
            <a:ext cx="5913755" cy="24638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484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Specialised</a:t>
            </a:r>
            <a:r>
              <a:rPr dirty="0" sz="1200" spc="23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AF8300"/>
                </a:solidFill>
                <a:latin typeface="Cambria"/>
                <a:cs typeface="Cambria"/>
              </a:rPr>
              <a:t>in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Location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Upload</a:t>
            </a:r>
            <a:r>
              <a:rPr dirty="0" sz="1200" spc="17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AF8300"/>
                </a:solidFill>
                <a:latin typeface="Cambria"/>
                <a:cs typeface="Cambria"/>
              </a:rPr>
              <a:t>Year</a:t>
            </a:r>
            <a:endParaRPr sz="12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The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Institute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Added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In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Survey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AF8300"/>
                </a:solidFill>
                <a:latin typeface="Cambria"/>
                <a:cs typeface="Cambria"/>
              </a:rPr>
              <a:t>Year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800" spc="24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Size</a:t>
            </a:r>
            <a:r>
              <a:rPr dirty="0" sz="1800" spc="25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60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Original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dataset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47590</a:t>
            </a:r>
            <a:r>
              <a:rPr dirty="0" sz="1200" spc="114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rows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910"/>
              </a:spcBef>
              <a:buSzPct val="141666"/>
              <a:buFont typeface="Arial"/>
              <a:buChar char="●"/>
              <a:tabLst>
                <a:tab pos="469900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Working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dataset</a:t>
            </a:r>
            <a:r>
              <a:rPr dirty="0" sz="1200" spc="14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9000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rows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25899"/>
              </a:lnSpc>
              <a:spcBef>
                <a:spcPts val="95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Limitations</a:t>
            </a:r>
            <a:r>
              <a:rPr dirty="0" sz="1800" spc="229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14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204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Missing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data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certain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newly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formed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districts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or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colleges 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not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yet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registered.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300" y="3974949"/>
            <a:ext cx="5655945" cy="311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3055">
              <a:lnSpc>
                <a:spcPct val="100000"/>
              </a:lnSpc>
              <a:spcBef>
                <a:spcPts val="100"/>
              </a:spcBef>
            </a:pP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Data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85" b="1">
                <a:solidFill>
                  <a:srgbClr val="7E6000"/>
                </a:solidFill>
                <a:latin typeface="Cambria"/>
                <a:cs typeface="Cambria"/>
              </a:rPr>
              <a:t>Cleaning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7E6000"/>
                </a:solidFill>
                <a:latin typeface="Cambria"/>
                <a:cs typeface="Cambria"/>
              </a:rPr>
              <a:t>&amp;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7E6000"/>
                </a:solidFill>
                <a:latin typeface="Cambria"/>
                <a:cs typeface="Cambria"/>
              </a:rPr>
              <a:t>Preparation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800">
              <a:latin typeface="Cambria"/>
              <a:cs typeface="Cambria"/>
            </a:endParaRPr>
          </a:p>
          <a:p>
            <a:pPr marL="240665" marR="5080" indent="-228600">
              <a:lnSpc>
                <a:spcPct val="125899"/>
              </a:lnSpc>
              <a:spcBef>
                <a:spcPts val="5"/>
              </a:spcBef>
              <a:buClr>
                <a:srgbClr val="AF8300"/>
              </a:buClr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Dataset</a:t>
            </a:r>
            <a:r>
              <a:rPr dirty="0" u="heavy" sz="1800" spc="16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5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Sampling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17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Randomized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raw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dataset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selected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9,000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rows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working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dataset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using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Python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script.(script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reference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Appendix)</a:t>
            </a:r>
            <a:endParaRPr sz="1200">
              <a:latin typeface="Times New Roman"/>
              <a:cs typeface="Times New Roman"/>
            </a:endParaRPr>
          </a:p>
          <a:p>
            <a:pPr marL="241300" marR="448945" indent="-228600">
              <a:lnSpc>
                <a:spcPts val="2120"/>
              </a:lnSpc>
              <a:spcBef>
                <a:spcPts val="515"/>
              </a:spcBef>
              <a:buClr>
                <a:srgbClr val="AF83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800" spc="5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Handling</a:t>
            </a:r>
            <a:r>
              <a:rPr dirty="0" u="heavy" sz="1800" spc="22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Missing</a:t>
            </a:r>
            <a:r>
              <a:rPr dirty="0" u="heavy" sz="1800" spc="229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Values</a:t>
            </a:r>
            <a:r>
              <a:rPr dirty="0" sz="1800" spc="1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229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Replaced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empty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cells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with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“Not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Specified”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or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“Not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Defined”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ensure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data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completeness.</a:t>
            </a:r>
            <a:endParaRPr sz="1200">
              <a:latin typeface="Times New Roman"/>
              <a:cs typeface="Times New Roman"/>
            </a:endParaRPr>
          </a:p>
          <a:p>
            <a:pPr marL="241300" marR="132715" indent="-228600">
              <a:lnSpc>
                <a:spcPts val="2120"/>
              </a:lnSpc>
              <a:spcBef>
                <a:spcPts val="330"/>
              </a:spcBef>
              <a:buClr>
                <a:srgbClr val="AF83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800" spc="19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Type</a:t>
            </a:r>
            <a:r>
              <a:rPr dirty="0" u="heavy" sz="1800" spc="19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Formatting</a:t>
            </a:r>
            <a:r>
              <a:rPr dirty="0" sz="1800" spc="1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19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AF8300"/>
                </a:solidFill>
                <a:latin typeface="Times New Roman"/>
                <a:cs typeface="Times New Roman"/>
              </a:rPr>
              <a:t>C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onverted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columns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their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appropriate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data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types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consistency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accurate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241300" marR="318135" indent="-228600">
              <a:lnSpc>
                <a:spcPts val="2120"/>
              </a:lnSpc>
              <a:spcBef>
                <a:spcPts val="245"/>
              </a:spcBef>
              <a:buClr>
                <a:srgbClr val="AF83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800" spc="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800" spc="2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5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Splitting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21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Separated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University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ID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from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University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Name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and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ID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from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Name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using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delimiter-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based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split.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48098" y="898042"/>
            <a:ext cx="3076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5" b="1">
                <a:solidFill>
                  <a:srgbClr val="7E6000"/>
                </a:solidFill>
                <a:latin typeface="Cambria"/>
                <a:cs typeface="Cambria"/>
              </a:rPr>
              <a:t>KPI</a:t>
            </a:r>
            <a:r>
              <a:rPr dirty="0" sz="1800" spc="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and</a:t>
            </a:r>
            <a:r>
              <a:rPr dirty="0" sz="1800" spc="3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80" b="1">
                <a:solidFill>
                  <a:srgbClr val="7E6000"/>
                </a:solidFill>
                <a:latin typeface="Cambria"/>
                <a:cs typeface="Cambria"/>
              </a:rPr>
              <a:t>Metric</a:t>
            </a:r>
            <a:r>
              <a:rPr dirty="0" sz="1800" spc="3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Framework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300" y="1774646"/>
            <a:ext cx="5349240" cy="2868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0665" algn="l"/>
              </a:tabLst>
            </a:pP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8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1:</a:t>
            </a:r>
            <a:r>
              <a:rPr dirty="0" sz="18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Private</a:t>
            </a:r>
            <a:r>
              <a:rPr dirty="0" u="heavy" sz="18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</a:t>
            </a:r>
            <a:r>
              <a:rPr dirty="0" u="heavy" sz="18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Share</a:t>
            </a:r>
            <a:r>
              <a:rPr dirty="0" u="heavy" sz="18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2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(%)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 marL="241300" marR="65405" indent="36830">
              <a:lnSpc>
                <a:spcPct val="127000"/>
              </a:lnSpc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Share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(%)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(Number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Private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Total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Number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of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Colleges)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×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41300" marR="121285" indent="36830">
              <a:lnSpc>
                <a:spcPct val="127000"/>
              </a:lnSpc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KPI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indicates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level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dominance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41300" marR="5080" indent="40640">
              <a:lnSpc>
                <a:spcPct val="127000"/>
              </a:lnSpc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form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majority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colleges,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indicating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strong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participation</a:t>
            </a:r>
            <a:r>
              <a:rPr dirty="0" sz="1200" spc="50" b="1">
                <a:solidFill>
                  <a:srgbClr val="AF8300"/>
                </a:solidFill>
                <a:latin typeface="Cambria"/>
                <a:cs typeface="Cambria"/>
              </a:rPr>
              <a:t>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409700" y="5010147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 h="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30300" y="5365500"/>
            <a:ext cx="5140960" cy="2404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0665" algn="l"/>
              </a:tabLst>
            </a:pP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800" spc="2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2:</a:t>
            </a:r>
            <a:r>
              <a:rPr dirty="0" sz="1800" spc="2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Private-</a:t>
            </a:r>
            <a:r>
              <a:rPr dirty="0" u="heavy" sz="1800" spc="7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to-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Government</a:t>
            </a:r>
            <a:r>
              <a:rPr dirty="0" u="heavy" sz="1800" spc="2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</a:t>
            </a:r>
            <a:r>
              <a:rPr dirty="0" u="heavy" sz="1800" spc="2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Ratio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 marL="241300" marR="5080" indent="40640">
              <a:lnSpc>
                <a:spcPct val="127000"/>
              </a:lnSpc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to-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Government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Ratio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Number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Number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of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Shows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ownership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balance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intensity.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81940">
              <a:lnSpc>
                <a:spcPct val="100000"/>
              </a:lnSpc>
              <a:spcBef>
                <a:spcPts val="385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There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are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nearly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2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every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1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college.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840222"/>
            <a:ext cx="5668010" cy="378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226695" indent="-228600">
              <a:lnSpc>
                <a:spcPct val="127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1300" algn="l"/>
              </a:tabLst>
            </a:pPr>
            <a:r>
              <a:rPr dirty="0" sz="17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700" spc="17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AF8300"/>
                </a:solidFill>
                <a:latin typeface="Cambria"/>
                <a:cs typeface="Cambria"/>
              </a:rPr>
              <a:t>3:</a:t>
            </a:r>
            <a:r>
              <a:rPr dirty="0" sz="17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Private</a:t>
            </a:r>
            <a:r>
              <a:rPr dirty="0" u="heavy" sz="1700" spc="17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</a:t>
            </a:r>
            <a:r>
              <a:rPr dirty="0" u="heavy" sz="17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Share</a:t>
            </a:r>
            <a:r>
              <a:rPr dirty="0" u="heavy" sz="1700" spc="17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by</a:t>
            </a:r>
            <a:r>
              <a:rPr dirty="0" u="heavy" sz="17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Location</a:t>
            </a:r>
            <a:r>
              <a:rPr dirty="0" u="heavy" sz="17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(Urban</a:t>
            </a:r>
            <a:r>
              <a:rPr dirty="0" u="heavy" sz="1700" spc="17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2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vs</a:t>
            </a:r>
            <a:r>
              <a:rPr dirty="0" sz="1700" spc="-2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Rural)</a:t>
            </a:r>
            <a:endParaRPr sz="17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3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Share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(%)</a:t>
            </a:r>
            <a:endParaRPr sz="1200">
              <a:latin typeface="Times New Roman"/>
              <a:cs typeface="Times New Roman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(Private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Total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Colleges)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×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Share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(%)</a:t>
            </a:r>
            <a:endParaRPr sz="1200">
              <a:latin typeface="Times New Roman"/>
              <a:cs typeface="Times New Roman"/>
            </a:endParaRPr>
          </a:p>
          <a:p>
            <a:pPr marL="278130">
              <a:lnSpc>
                <a:spcPct val="100000"/>
              </a:lnSpc>
              <a:spcBef>
                <a:spcPts val="385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(Private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Total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Colleges)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×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8194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Shows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geographic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privatisation.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41300" marR="5080" indent="36830">
              <a:lnSpc>
                <a:spcPct val="127000"/>
              </a:lnSpc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dominate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both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areas,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with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stronger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presence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in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areas.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409700" y="4984752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 h="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30300" y="5348118"/>
            <a:ext cx="5165090" cy="217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0665" algn="l"/>
              </a:tabLst>
            </a:pP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800" spc="31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4:</a:t>
            </a:r>
            <a:r>
              <a:rPr dirty="0" sz="1800" spc="31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Education</a:t>
            </a:r>
            <a:r>
              <a:rPr dirty="0" u="heavy" sz="1800" spc="3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Privatization</a:t>
            </a:r>
            <a:r>
              <a:rPr dirty="0" u="heavy" sz="1800" spc="31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Growth</a:t>
            </a:r>
            <a:r>
              <a:rPr dirty="0" u="heavy" sz="1800" spc="3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Trend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85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Trend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Private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per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Year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Total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per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Year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Identifies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patterns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structural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shifts.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have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increased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significantly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over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409700" y="7727949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 h="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30300" y="8089910"/>
            <a:ext cx="4391660" cy="938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0665" algn="l"/>
              </a:tabLst>
            </a:pP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8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5:</a:t>
            </a:r>
            <a:r>
              <a:rPr dirty="0" sz="18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800" spc="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</a:t>
            </a:r>
            <a:r>
              <a:rPr dirty="0" u="heavy" sz="18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Growth</a:t>
            </a:r>
            <a:r>
              <a:rPr dirty="0" u="heavy" sz="1800" spc="1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Forecast</a:t>
            </a:r>
            <a:r>
              <a:rPr dirty="0" u="heavy" sz="18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(2030)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Method: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85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Linear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trend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forecasting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using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establishment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year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8900" y="858302"/>
            <a:ext cx="4398645" cy="110680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4953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Shows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expected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future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expansion.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4953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are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expected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continue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growing.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409700" y="2381248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 h="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30300" y="2740575"/>
            <a:ext cx="4683760" cy="217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0665" algn="l"/>
              </a:tabLst>
            </a:pP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8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6:</a:t>
            </a:r>
            <a:r>
              <a:rPr dirty="0" u="heavy" sz="1800" spc="2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</a:t>
            </a:r>
            <a:r>
              <a:rPr dirty="0" u="heavy" sz="18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Distribution</a:t>
            </a:r>
            <a:r>
              <a:rPr dirty="0" u="heavy" sz="18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Across</a:t>
            </a:r>
            <a:r>
              <a:rPr dirty="0" u="heavy" sz="18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States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 marL="281940">
              <a:lnSpc>
                <a:spcPct val="100000"/>
              </a:lnSpc>
              <a:spcBef>
                <a:spcPts val="385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Density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Count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per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Identifies</a:t>
            </a:r>
            <a:r>
              <a:rPr dirty="0" sz="1200" spc="1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regional</a:t>
            </a:r>
            <a:r>
              <a:rPr dirty="0" sz="1200" spc="1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concentration.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81940">
              <a:lnSpc>
                <a:spcPct val="100000"/>
              </a:lnSpc>
              <a:spcBef>
                <a:spcPts val="390"/>
              </a:spcBef>
            </a:pP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Some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have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significantly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concentration.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409700" y="5327649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 h="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30300" y="5614085"/>
            <a:ext cx="5284470" cy="2594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7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1300" algn="l"/>
              </a:tabLst>
            </a:pP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800" spc="21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AF8300"/>
                </a:solidFill>
                <a:latin typeface="Cambria"/>
                <a:cs typeface="Cambria"/>
              </a:rPr>
              <a:t>7:</a:t>
            </a:r>
            <a:r>
              <a:rPr dirty="0" sz="1800" spc="22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Ownership</a:t>
            </a:r>
            <a:r>
              <a:rPr dirty="0" u="heavy" sz="1800" spc="2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5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Shift</a:t>
            </a:r>
            <a:r>
              <a:rPr dirty="0" u="heavy" sz="1800" spc="2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Correlation</a:t>
            </a:r>
            <a:r>
              <a:rPr dirty="0" u="heavy" sz="1800" spc="2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(Private</a:t>
            </a:r>
            <a:r>
              <a:rPr dirty="0" u="heavy" sz="1800" spc="2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2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vs</a:t>
            </a:r>
            <a:r>
              <a:rPr dirty="0" sz="1800" spc="-2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Government</a:t>
            </a:r>
            <a:r>
              <a:rPr dirty="0" u="heavy" sz="1800" spc="3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Growth)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55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 marL="281940">
              <a:lnSpc>
                <a:spcPct val="100000"/>
              </a:lnSpc>
              <a:spcBef>
                <a:spcPts val="390"/>
              </a:spcBef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Correlation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(Private,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Government)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Shows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structural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expansion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pattern.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Both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sectors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are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growing,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but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private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stronger.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409700" y="8616947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 h="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910120"/>
            <a:ext cx="5196205" cy="2153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AF8300"/>
              </a:buClr>
              <a:buFont typeface="Arial"/>
              <a:buChar char="●"/>
              <a:tabLst>
                <a:tab pos="241300" algn="l"/>
              </a:tabLst>
            </a:pPr>
            <a:r>
              <a:rPr dirty="0" sz="1700" b="1">
                <a:solidFill>
                  <a:srgbClr val="AF8300"/>
                </a:solidFill>
                <a:latin typeface="Cambria"/>
                <a:cs typeface="Cambria"/>
              </a:rPr>
              <a:t>KPI</a:t>
            </a:r>
            <a:r>
              <a:rPr dirty="0" sz="1700" spc="204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AF8300"/>
                </a:solidFill>
                <a:latin typeface="Cambria"/>
                <a:cs typeface="Cambria"/>
              </a:rPr>
              <a:t>8:</a:t>
            </a:r>
            <a:r>
              <a:rPr dirty="0" sz="1700" spc="204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Privatisation</a:t>
            </a:r>
            <a:r>
              <a:rPr dirty="0" u="heavy" sz="1700" spc="2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vs</a:t>
            </a:r>
            <a:r>
              <a:rPr dirty="0" u="heavy" sz="1700" spc="20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Urbanisation</a:t>
            </a:r>
            <a:r>
              <a:rPr dirty="0" u="heavy" sz="1700" spc="20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Correlation</a:t>
            </a:r>
            <a:endParaRPr sz="17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30"/>
              </a:spcBef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Formula: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Correlation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(Private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Colleges,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Colleges)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Purpose: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Shows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geographic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spread.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Insight:</a:t>
            </a:r>
            <a:endParaRPr sz="1200">
              <a:latin typeface="Cambria"/>
              <a:cs typeface="Cambria"/>
            </a:endParaRPr>
          </a:p>
          <a:p>
            <a:pPr marL="278130">
              <a:lnSpc>
                <a:spcPct val="100000"/>
              </a:lnSpc>
              <a:spcBef>
                <a:spcPts val="385"/>
              </a:spcBef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are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not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limited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areas.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300" y="3829243"/>
            <a:ext cx="5650865" cy="4296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30810">
              <a:lnSpc>
                <a:spcPct val="100000"/>
              </a:lnSpc>
              <a:spcBef>
                <a:spcPts val="100"/>
              </a:spcBef>
            </a:pP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Exploratory </a:t>
            </a:r>
            <a:r>
              <a:rPr dirty="0" sz="1800" spc="50" b="1">
                <a:solidFill>
                  <a:srgbClr val="7E6000"/>
                </a:solidFill>
                <a:latin typeface="Cambria"/>
                <a:cs typeface="Cambria"/>
              </a:rPr>
              <a:t>Data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0" b="1">
                <a:solidFill>
                  <a:srgbClr val="7E6000"/>
                </a:solidFill>
                <a:latin typeface="Cambria"/>
                <a:cs typeface="Cambria"/>
              </a:rPr>
              <a:t>Analysis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7E6000"/>
                </a:solidFill>
                <a:latin typeface="Cambria"/>
                <a:cs typeface="Cambria"/>
              </a:rPr>
              <a:t>(EDA)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800">
              <a:latin typeface="Cambria"/>
              <a:cs typeface="Cambria"/>
            </a:endParaRPr>
          </a:p>
          <a:p>
            <a:pPr marL="241300" marR="84455" indent="-228600">
              <a:lnSpc>
                <a:spcPct val="125899"/>
              </a:lnSpc>
              <a:spcBef>
                <a:spcPts val="5"/>
              </a:spcBef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Trend</a:t>
            </a:r>
            <a:r>
              <a:rPr dirty="0" u="heavy" sz="1800" spc="17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70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700" spc="20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line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chart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showing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trend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over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the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years.</a:t>
            </a:r>
            <a:endParaRPr sz="12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120"/>
              </a:lnSpc>
              <a:spcBef>
                <a:spcPts val="515"/>
              </a:spcBef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Comparative</a:t>
            </a:r>
            <a:r>
              <a:rPr dirty="0" u="heavy" sz="1800" spc="204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80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800" spc="21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bar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chart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comparing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all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on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the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basis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their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to-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ratio.</a:t>
            </a:r>
            <a:endParaRPr sz="1200">
              <a:latin typeface="Times New Roman"/>
              <a:cs typeface="Times New Roman"/>
            </a:endParaRPr>
          </a:p>
          <a:p>
            <a:pPr marL="241300" marR="128905" indent="-228600">
              <a:lnSpc>
                <a:spcPts val="2120"/>
              </a:lnSpc>
              <a:spcBef>
                <a:spcPts val="330"/>
              </a:spcBef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Distribution</a:t>
            </a:r>
            <a:r>
              <a:rPr dirty="0" u="heavy" sz="1800" spc="22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Analysis:</a:t>
            </a:r>
            <a:r>
              <a:rPr dirty="0" sz="1800" spc="16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bar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chart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illustrating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of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different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types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across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locations.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29"/>
              </a:spcBef>
              <a:buClr>
                <a:srgbClr val="BE8F00"/>
              </a:buClr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Correlation</a:t>
            </a:r>
            <a:r>
              <a:rPr dirty="0" u="heavy" sz="1800" spc="40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u="heavy" sz="1900" spc="-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:</a:t>
            </a:r>
            <a:endParaRPr sz="1900">
              <a:latin typeface="Cambria"/>
              <a:cs typeface="Cambria"/>
            </a:endParaRPr>
          </a:p>
          <a:p>
            <a:pPr lvl="1" marL="698500" marR="15240" indent="-228600">
              <a:lnSpc>
                <a:spcPct val="127000"/>
              </a:lnSpc>
              <a:spcBef>
                <a:spcPts val="200"/>
              </a:spcBef>
              <a:buFont typeface="Tahoma"/>
              <a:buChar char="○"/>
              <a:tabLst>
                <a:tab pos="698500" algn="l"/>
              </a:tabLst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KPI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cards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indicate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that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has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moderate</a:t>
            </a:r>
            <a:r>
              <a:rPr dirty="0" sz="1200" spc="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association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with</a:t>
            </a:r>
            <a:r>
              <a:rPr dirty="0" sz="1200" spc="1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geographic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concentration</a:t>
            </a:r>
            <a:r>
              <a:rPr dirty="0" sz="1200" spc="1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strong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positive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growth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trend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over</a:t>
            </a:r>
            <a:r>
              <a:rPr dirty="0" sz="1200" spc="10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time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,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while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its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relationship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with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urban</a:t>
            </a:r>
            <a:r>
              <a:rPr dirty="0" sz="1200" spc="10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locality</a:t>
            </a:r>
            <a:r>
              <a:rPr dirty="0" sz="1200" spc="1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is</a:t>
            </a:r>
            <a:r>
              <a:rPr dirty="0" sz="1200" spc="1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very</a:t>
            </a:r>
            <a:r>
              <a:rPr dirty="0" sz="1200" spc="10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weak</a:t>
            </a:r>
            <a:r>
              <a:rPr dirty="0" sz="1200" spc="1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AF8300"/>
                </a:solidFill>
                <a:latin typeface="Cambria"/>
                <a:cs typeface="Cambria"/>
              </a:rPr>
              <a:t>and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slightly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negative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,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variation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across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states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and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management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types</a:t>
            </a:r>
            <a:r>
              <a:rPr dirty="0" sz="1200" spc="10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remains</a:t>
            </a:r>
            <a:r>
              <a:rPr dirty="0" sz="1200" spc="10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weak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,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suggesting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that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widespread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rather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than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limited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regions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or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structures.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898042"/>
            <a:ext cx="5735320" cy="3696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5265">
              <a:lnSpc>
                <a:spcPct val="100000"/>
              </a:lnSpc>
              <a:spcBef>
                <a:spcPts val="100"/>
              </a:spcBef>
            </a:pP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Advanced </a:t>
            </a:r>
            <a:r>
              <a:rPr dirty="0" sz="1800" spc="60" b="1">
                <a:solidFill>
                  <a:srgbClr val="7E6000"/>
                </a:solidFill>
                <a:latin typeface="Cambria"/>
                <a:cs typeface="Cambria"/>
              </a:rPr>
              <a:t>Analysis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Forecasting</a:t>
            </a:r>
            <a:r>
              <a:rPr dirty="0" u="heavy" sz="1800" spc="3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lvl="1" marL="698500" marR="254635" indent="-228600">
              <a:lnSpc>
                <a:spcPct val="127000"/>
              </a:lnSpc>
              <a:spcBef>
                <a:spcPts val="175"/>
              </a:spcBef>
              <a:buFont typeface="Arial"/>
              <a:buChar char="○"/>
              <a:tabLst>
                <a:tab pos="698500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Forecasting</a:t>
            </a:r>
            <a:r>
              <a:rPr dirty="0" sz="1200" spc="1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was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performed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using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historical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college</a:t>
            </a:r>
            <a:r>
              <a:rPr dirty="0" sz="1200" spc="1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establishment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data</a:t>
            </a:r>
            <a:r>
              <a:rPr dirty="0" sz="1200" spc="1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to</a:t>
            </a:r>
            <a:r>
              <a:rPr dirty="0" sz="1200" spc="1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estimate</a:t>
            </a:r>
            <a:r>
              <a:rPr dirty="0" sz="1200" spc="1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future</a:t>
            </a:r>
            <a:r>
              <a:rPr dirty="0" sz="1200" spc="1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growth.</a:t>
            </a:r>
            <a:endParaRPr sz="1200">
              <a:latin typeface="Cambria"/>
              <a:cs typeface="Cambria"/>
            </a:endParaRPr>
          </a:p>
          <a:p>
            <a:pPr lvl="2" marL="1155700" marR="80645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forecast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indicates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that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number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is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expected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to increase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steadily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by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2030,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reaching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approximately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173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per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year.</a:t>
            </a:r>
            <a:endParaRPr sz="1200">
              <a:latin typeface="Times New Roman"/>
              <a:cs typeface="Times New Roman"/>
            </a:endParaRPr>
          </a:p>
          <a:p>
            <a:pPr lvl="2" marL="1155700" marR="335280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This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suggests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continued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expansion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education,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driven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primarily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by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private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sector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participation.</a:t>
            </a:r>
            <a:endParaRPr sz="1200">
              <a:latin typeface="Times New Roman"/>
              <a:cs typeface="Times New Roman"/>
            </a:endParaRPr>
          </a:p>
          <a:p>
            <a:pPr lvl="2" marL="1155700" marR="5080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decade-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wise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chart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shows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cyclical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spikes,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indicating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that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establishment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increases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phases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rather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than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uniformly.</a:t>
            </a:r>
            <a:endParaRPr sz="1200">
              <a:latin typeface="Times New Roman"/>
              <a:cs typeface="Times New Roman"/>
            </a:endParaRPr>
          </a:p>
          <a:p>
            <a:pPr lvl="2" marL="1155700" marR="113030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If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current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trend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continues,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will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remain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the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dominant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contributors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expansion.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300" y="5095132"/>
            <a:ext cx="5561330" cy="367919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800" spc="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Segmentation</a:t>
            </a:r>
            <a:r>
              <a:rPr dirty="0" u="heavy" sz="1800" spc="1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60"/>
              </a:spcBef>
            </a:pP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&gt;</a:t>
            </a:r>
            <a:r>
              <a:rPr dirty="0" sz="1200" spc="10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Segmentation</a:t>
            </a:r>
            <a:r>
              <a:rPr dirty="0" sz="1200" spc="10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was</a:t>
            </a:r>
            <a:r>
              <a:rPr dirty="0" sz="1200" spc="10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performed</a:t>
            </a:r>
            <a:r>
              <a:rPr dirty="0" sz="1200" spc="10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using</a:t>
            </a:r>
            <a:r>
              <a:rPr dirty="0" sz="1200" spc="10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Location</a:t>
            </a:r>
            <a:r>
              <a:rPr dirty="0" sz="1200" spc="8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(Urban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vs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Rural)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1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1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ahoma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&gt;</a:t>
            </a: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Key</a:t>
            </a: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Insights</a:t>
            </a: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Management</a:t>
            </a:r>
            <a:r>
              <a:rPr dirty="0" sz="1200" spc="3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Segmentation</a:t>
            </a:r>
            <a:r>
              <a:rPr dirty="0" sz="1200" spc="33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account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62.74%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total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account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only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37.26%</a:t>
            </a:r>
            <a:endParaRPr sz="1200">
              <a:latin typeface="Times New Roman"/>
              <a:cs typeface="Times New Roman"/>
            </a:endParaRPr>
          </a:p>
          <a:p>
            <a:pPr lvl="2" marL="1155700" marR="5080" indent="-228600">
              <a:lnSpc>
                <a:spcPct val="127000"/>
              </a:lnSpc>
              <a:buFont typeface="Tahoma"/>
              <a:buChar char="○"/>
              <a:tabLst>
                <a:tab pos="1155700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to-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Government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ratio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is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1.9954,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meaning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almost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2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1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exist</a:t>
            </a:r>
            <a:r>
              <a:rPr dirty="0" sz="1200" spc="1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1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every</a:t>
            </a:r>
            <a:r>
              <a:rPr dirty="0" sz="1200" spc="1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1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college</a:t>
            </a:r>
            <a:endParaRPr sz="12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Location</a:t>
            </a:r>
            <a:r>
              <a:rPr dirty="0" sz="1200" spc="26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Segmentation</a:t>
            </a:r>
            <a:r>
              <a:rPr dirty="0" sz="1200" spc="2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are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concentrated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urban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areas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858302"/>
            <a:ext cx="5440680" cy="815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5700" marR="28575" indent="-228600">
              <a:lnSpc>
                <a:spcPct val="127000"/>
              </a:lnSpc>
              <a:spcBef>
                <a:spcPts val="100"/>
              </a:spcBef>
              <a:buFont typeface="Tahoma"/>
              <a:buChar char="○"/>
              <a:tabLst>
                <a:tab pos="1155700" algn="l"/>
              </a:tabLst>
            </a:pP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Rural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areas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have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relatively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fewer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institutions,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indicating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access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inequality</a:t>
            </a:r>
            <a:endParaRPr sz="12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State</a:t>
            </a:r>
            <a:r>
              <a:rPr dirty="0" sz="1200" spc="2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Segmentation</a:t>
            </a:r>
            <a:r>
              <a:rPr dirty="0" sz="1200" spc="2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1" marL="1155700" marR="341630" indent="-228600">
              <a:lnSpc>
                <a:spcPct val="127000"/>
              </a:lnSpc>
              <a:buFont typeface="Tahoma"/>
              <a:buChar char="○"/>
              <a:tabLst>
                <a:tab pos="11557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Some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states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show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very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to-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ratios,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indicating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strong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privatization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Other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rely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on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institutions</a:t>
            </a:r>
            <a:endParaRPr sz="12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College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Type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10" b="1">
                <a:solidFill>
                  <a:srgbClr val="AF8300"/>
                </a:solidFill>
                <a:latin typeface="Cambria"/>
                <a:cs typeface="Cambria"/>
              </a:rPr>
              <a:t>Segmentation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1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Affiliated</a:t>
            </a:r>
            <a:r>
              <a:rPr dirty="0" sz="1200" spc="1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10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dominate</a:t>
            </a:r>
            <a:r>
              <a:rPr dirty="0" sz="1200" spc="10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1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Autonomous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constituent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are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BE8F00"/>
                </a:solidFill>
                <a:latin typeface="Times New Roman"/>
                <a:cs typeface="Times New Roman"/>
              </a:rPr>
              <a:t>fewer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Root</a:t>
            </a:r>
            <a:r>
              <a:rPr dirty="0" u="heavy" sz="1800" spc="25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Cause</a:t>
            </a:r>
            <a:r>
              <a:rPr dirty="0" u="heavy" sz="1800" spc="25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 marR="104775">
              <a:lnSpc>
                <a:spcPct val="127000"/>
              </a:lnSpc>
              <a:spcBef>
                <a:spcPts val="170"/>
              </a:spcBef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Root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cause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analysis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was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conducted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to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understand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why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privatization</a:t>
            </a:r>
            <a:r>
              <a:rPr dirty="0" sz="1200" spc="15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AF8300"/>
                </a:solidFill>
                <a:latin typeface="Cambria"/>
                <a:cs typeface="Cambria"/>
              </a:rPr>
              <a:t>is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increasing.</a:t>
            </a:r>
            <a:endParaRPr sz="12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390"/>
              </a:spcBef>
            </a:pP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&gt;</a:t>
            </a:r>
            <a:r>
              <a:rPr dirty="0" sz="1200" spc="1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Root</a:t>
            </a:r>
            <a:r>
              <a:rPr dirty="0" u="heavy" sz="1200" spc="1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Causes</a:t>
            </a:r>
            <a:r>
              <a:rPr dirty="0" u="heavy" sz="1200" spc="1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Identified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Government</a:t>
            </a:r>
            <a:r>
              <a:rPr dirty="0" sz="1200" spc="2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capacity</a:t>
            </a:r>
            <a:r>
              <a:rPr dirty="0" sz="1200" spc="27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limitations</a:t>
            </a:r>
            <a:r>
              <a:rPr dirty="0" sz="1200" spc="26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cannot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expand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fast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enough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meet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rising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demand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Increasing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demand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for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higher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education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students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seeking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degrees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filling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gap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Policy</a:t>
            </a:r>
            <a:r>
              <a:rPr dirty="0" sz="1200" spc="12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support</a:t>
            </a:r>
            <a:r>
              <a:rPr dirty="0" sz="1200" spc="12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Liberal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policies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encouraging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investment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in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Clr>
                <a:srgbClr val="BE8F00"/>
              </a:buClr>
              <a:buFont typeface="Tahoma"/>
              <a:buChar char="○"/>
            </a:pP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Clr>
                <a:srgbClr val="BE8F00"/>
              </a:buClr>
              <a:buFont typeface="Tahoma"/>
              <a:buChar char="○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Risk</a:t>
            </a:r>
            <a:r>
              <a:rPr dirty="0" u="heavy" sz="18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and</a:t>
            </a:r>
            <a:r>
              <a:rPr dirty="0" u="heavy" sz="18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Anomaly</a:t>
            </a:r>
            <a:r>
              <a:rPr dirty="0" u="heavy" sz="18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60"/>
              </a:spcBef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Risk</a:t>
            </a:r>
            <a:r>
              <a:rPr dirty="0" sz="12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analysis</a:t>
            </a:r>
            <a:r>
              <a:rPr dirty="0" sz="12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helps</a:t>
            </a:r>
            <a:r>
              <a:rPr dirty="0" sz="12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identify</a:t>
            </a:r>
            <a:r>
              <a:rPr dirty="0" sz="1200" spc="18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potential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concerns.</a:t>
            </a:r>
            <a:endParaRPr sz="12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385"/>
              </a:spcBef>
            </a:pPr>
            <a:r>
              <a:rPr dirty="0" sz="1200" spc="9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&gt;</a:t>
            </a:r>
            <a:r>
              <a:rPr dirty="0" sz="1200" spc="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Key</a:t>
            </a:r>
            <a:r>
              <a:rPr dirty="0" u="heavy" sz="1200" spc="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Risks</a:t>
            </a:r>
            <a:r>
              <a:rPr dirty="0" u="heavy" sz="1200" spc="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Identified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Over-privatization</a:t>
            </a:r>
            <a:r>
              <a:rPr dirty="0" sz="1200" spc="4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share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already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at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62.74%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May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reduce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affordability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accessibility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6978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Regional</a:t>
            </a:r>
            <a:r>
              <a:rPr dirty="0" sz="1200" spc="2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imbalance</a:t>
            </a:r>
            <a:r>
              <a:rPr dirty="0" sz="1200" spc="2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Some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states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have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significantly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ratios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1155065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Leads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unequal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access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00"/>
              </a:spcBef>
            </a:pPr>
            <a:r>
              <a:rPr dirty="0" sz="1600" spc="114" b="1">
                <a:solidFill>
                  <a:srgbClr val="AF8300"/>
                </a:solidFill>
                <a:latin typeface="Cambria"/>
                <a:cs typeface="Cambria"/>
              </a:rPr>
              <a:t>-</a:t>
            </a:r>
            <a:r>
              <a:rPr dirty="0" sz="1600" b="1">
                <a:solidFill>
                  <a:srgbClr val="AF8300"/>
                </a:solidFill>
                <a:latin typeface="Cambria"/>
                <a:cs typeface="Cambria"/>
              </a:rPr>
              <a:t>&gt;</a:t>
            </a:r>
            <a:r>
              <a:rPr dirty="0" sz="1600" spc="7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Anomalies</a:t>
            </a:r>
            <a:r>
              <a:rPr dirty="0" u="heavy" sz="1200" spc="16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observed:</a:t>
            </a:r>
            <a:endParaRPr sz="1200">
              <a:latin typeface="Cambria"/>
              <a:cs typeface="Cambria"/>
            </a:endParaRPr>
          </a:p>
          <a:p>
            <a:pPr marL="697865" indent="-227965">
              <a:lnSpc>
                <a:spcPct val="100000"/>
              </a:lnSpc>
              <a:spcBef>
                <a:spcPts val="50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Sudden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spikes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certain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decades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chart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7500" y="907643"/>
            <a:ext cx="51358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Tahoma"/>
              <a:buChar char="●"/>
              <a:tabLst>
                <a:tab pos="2406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Certain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showing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extremely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ratios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compared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others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300" y="1655534"/>
            <a:ext cx="5473065" cy="3640454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Scenario</a:t>
            </a:r>
            <a:r>
              <a:rPr dirty="0" u="heavy" sz="1800" spc="2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56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Scenario</a:t>
            </a:r>
            <a:r>
              <a:rPr dirty="0" u="heavy" sz="1200" spc="1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1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r>
              <a:rPr dirty="0" sz="1200" spc="1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If</a:t>
            </a:r>
            <a:r>
              <a:rPr dirty="0" sz="1200" spc="1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current</a:t>
            </a:r>
            <a:r>
              <a:rPr dirty="0" sz="1200" spc="1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trend</a:t>
            </a:r>
            <a:r>
              <a:rPr dirty="0" sz="1200" spc="13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continues-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8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will</a:t>
            </a:r>
            <a:r>
              <a:rPr dirty="0" sz="1200" spc="8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dominate</a:t>
            </a:r>
            <a:r>
              <a:rPr dirty="0" sz="1200" spc="8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even</a:t>
            </a:r>
            <a:r>
              <a:rPr dirty="0" sz="1200" spc="8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share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may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exceed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70%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by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BE8F00"/>
                </a:solidFill>
                <a:latin typeface="Times New Roman"/>
                <a:cs typeface="Times New Roman"/>
              </a:rPr>
              <a:t>2030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Scenario</a:t>
            </a:r>
            <a:r>
              <a:rPr dirty="0" u="heavy" sz="1200" spc="15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2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If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government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increases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investment-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8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share</a:t>
            </a:r>
            <a:r>
              <a:rPr dirty="0" sz="1200" spc="8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will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improve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accessibility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will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become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balanced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Scenario</a:t>
            </a:r>
            <a:r>
              <a:rPr dirty="0" u="heavy" sz="1200" spc="1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3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If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private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growth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slows-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Overall</a:t>
            </a:r>
            <a:r>
              <a:rPr dirty="0" sz="1200" spc="1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1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11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rate</a:t>
            </a:r>
            <a:r>
              <a:rPr dirty="0" sz="1200" spc="1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will</a:t>
            </a:r>
            <a:r>
              <a:rPr dirty="0" sz="1200" spc="11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reduce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Clr>
                <a:srgbClr val="BE8F00"/>
              </a:buClr>
              <a:buFont typeface="Tahoma"/>
              <a:buChar char="■"/>
            </a:pP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Clr>
                <a:srgbClr val="BE8F00"/>
              </a:buClr>
              <a:buFont typeface="Tahoma"/>
              <a:buChar char="■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Final</a:t>
            </a:r>
            <a:r>
              <a:rPr dirty="0" u="heavy" sz="1800" spc="30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Conclusion:</a:t>
            </a:r>
            <a:endParaRPr sz="1800">
              <a:latin typeface="Cambria"/>
              <a:cs typeface="Cambria"/>
            </a:endParaRPr>
          </a:p>
          <a:p>
            <a:pPr marL="241300" marR="5080">
              <a:lnSpc>
                <a:spcPct val="127000"/>
              </a:lnSpc>
              <a:spcBef>
                <a:spcPts val="170"/>
              </a:spcBef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Advanced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reveals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that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India's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expansion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is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strongly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privatization-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driven,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uneven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across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regions,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expected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grow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further,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highlighting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need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balanced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policy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intervention.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300" y="6238883"/>
            <a:ext cx="5735955" cy="271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5900">
              <a:lnSpc>
                <a:spcPct val="100000"/>
              </a:lnSpc>
              <a:spcBef>
                <a:spcPts val="100"/>
              </a:spcBef>
            </a:pPr>
            <a:r>
              <a:rPr dirty="0" sz="1900" spc="50" b="1">
                <a:solidFill>
                  <a:srgbClr val="7E6000"/>
                </a:solidFill>
                <a:latin typeface="Cambria"/>
                <a:cs typeface="Cambria"/>
              </a:rPr>
              <a:t>Dashboard</a:t>
            </a:r>
            <a:r>
              <a:rPr dirty="0" sz="19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900" spc="90" b="1">
                <a:solidFill>
                  <a:srgbClr val="7E6000"/>
                </a:solidFill>
                <a:latin typeface="Cambria"/>
                <a:cs typeface="Cambria"/>
              </a:rPr>
              <a:t>Design</a:t>
            </a:r>
            <a:endParaRPr sz="19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20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Dashboard</a:t>
            </a:r>
            <a:r>
              <a:rPr dirty="0" u="heavy" sz="1800" spc="2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Implementation</a:t>
            </a:r>
            <a:r>
              <a:rPr dirty="0" sz="1800" spc="35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 marR="198120">
              <a:lnSpc>
                <a:spcPct val="127000"/>
              </a:lnSpc>
              <a:spcBef>
                <a:spcPts val="1370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dashboard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was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implemented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using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Google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Sheets,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leveraging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pivot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tables,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calculated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formulas,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charts,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interactive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slicers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analyse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institutional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concentration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trends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Indian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education.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 spc="-30">
                <a:solidFill>
                  <a:srgbClr val="AF8300"/>
                </a:solidFill>
                <a:latin typeface="Times New Roman"/>
                <a:cs typeface="Times New Roman"/>
              </a:rPr>
              <a:t>Key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Google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Sheets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features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used: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Pivot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Tables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→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aggregation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by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state,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management,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location,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year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Calculated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Fields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→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KPIs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such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share,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ratios,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correlations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858302"/>
            <a:ext cx="5656580" cy="643382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484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Charts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→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line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charts,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bar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charts,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pie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charts</a:t>
            </a:r>
            <a:endParaRPr sz="12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Slicers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Filters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→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interactive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enabled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dynamic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user-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driven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exploration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dataset.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Dashboard</a:t>
            </a:r>
            <a:r>
              <a:rPr dirty="0" u="heavy" sz="1800" spc="2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Objective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primary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objective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dashboard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Analyse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extent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privatisation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Indian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Identify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geographic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concentration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Compare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presence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Understand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ownership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trends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over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time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Forecast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future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endParaRPr sz="1200">
              <a:latin typeface="Times New Roman"/>
              <a:cs typeface="Times New Roman"/>
            </a:endParaRPr>
          </a:p>
          <a:p>
            <a:pPr marL="241300" marR="410845">
              <a:lnSpc>
                <a:spcPct val="127000"/>
              </a:lnSpc>
              <a:spcBef>
                <a:spcPts val="120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dashboard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helps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decision-makers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understand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structural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patterns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and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supports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planning.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Dashboard</a:t>
            </a:r>
            <a:r>
              <a:rPr dirty="0" u="heavy" sz="1800" spc="2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View</a:t>
            </a:r>
            <a:r>
              <a:rPr dirty="0" u="heavy" sz="1800" spc="25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Structure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60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dashboard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organised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into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four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major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analytical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sections:</a:t>
            </a:r>
            <a:endParaRPr sz="1200">
              <a:latin typeface="Times New Roman"/>
              <a:cs typeface="Times New Roman"/>
            </a:endParaRPr>
          </a:p>
          <a:p>
            <a:pPr lvl="1" marL="698500" marR="442595" indent="-228600">
              <a:lnSpc>
                <a:spcPct val="127000"/>
              </a:lnSpc>
              <a:buClr>
                <a:srgbClr val="BE8F00"/>
              </a:buClr>
              <a:buFont typeface="Arial"/>
              <a:buChar char="●"/>
              <a:tabLst>
                <a:tab pos="6985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Overview</a:t>
            </a:r>
            <a:r>
              <a:rPr dirty="0" u="heavy" sz="1200" spc="1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&amp;</a:t>
            </a:r>
            <a:r>
              <a:rPr dirty="0" u="heavy" sz="1200" spc="1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Privatisation</a:t>
            </a:r>
            <a:r>
              <a:rPr dirty="0" u="heavy" sz="1200" spc="1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KPIs</a:t>
            </a:r>
            <a:r>
              <a:rPr dirty="0" u="heavy" sz="1200" spc="1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7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:</a:t>
            </a:r>
            <a:r>
              <a:rPr dirty="0" u="heavy" sz="1200" spc="13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section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provides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high-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level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summary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indicators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such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as:</a:t>
            </a:r>
            <a:endParaRPr sz="1200">
              <a:latin typeface="Times New Roman"/>
              <a:cs typeface="Times New Roman"/>
            </a:endParaRPr>
          </a:p>
          <a:p>
            <a:pPr lvl="2" marL="16122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16122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Share: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62.74%</a:t>
            </a:r>
            <a:endParaRPr sz="1200">
              <a:latin typeface="Times New Roman"/>
              <a:cs typeface="Times New Roman"/>
            </a:endParaRPr>
          </a:p>
          <a:p>
            <a:pPr lvl="2" marL="16122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1612265" algn="l"/>
              </a:tabLst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to-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1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Ratio:</a:t>
            </a:r>
            <a:r>
              <a:rPr dirty="0" sz="1200" spc="1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1.99</a:t>
            </a:r>
            <a:endParaRPr sz="1200">
              <a:latin typeface="Times New Roman"/>
              <a:cs typeface="Times New Roman"/>
            </a:endParaRPr>
          </a:p>
          <a:p>
            <a:pPr lvl="2" marL="16122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16122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%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Areas: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68.44%</a:t>
            </a:r>
            <a:endParaRPr sz="1200">
              <a:latin typeface="Times New Roman"/>
              <a:cs typeface="Times New Roman"/>
            </a:endParaRPr>
          </a:p>
          <a:p>
            <a:pPr lvl="2" marL="16122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16122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%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1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1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1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Areas:</a:t>
            </a:r>
            <a:r>
              <a:rPr dirty="0" sz="1200" spc="1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63.77%</a:t>
            </a:r>
            <a:endParaRPr sz="1200">
              <a:latin typeface="Times New Roman"/>
              <a:cs typeface="Times New Roman"/>
            </a:endParaRPr>
          </a:p>
          <a:p>
            <a:pPr lvl="2" marL="16122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16122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Forecasted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Count: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249.23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These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KPIs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highlight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strong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dominance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7500" y="2910245"/>
            <a:ext cx="5146675" cy="203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178435" indent="-228600">
              <a:lnSpc>
                <a:spcPct val="127000"/>
              </a:lnSpc>
              <a:spcBef>
                <a:spcPts val="100"/>
              </a:spcBef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Privatisation</a:t>
            </a:r>
            <a:r>
              <a:rPr dirty="0" u="heavy" sz="1200" spc="1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&amp;</a:t>
            </a:r>
            <a:r>
              <a:rPr dirty="0" u="heavy" sz="1200" spc="1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Ownership</a:t>
            </a:r>
            <a:r>
              <a:rPr dirty="0" u="heavy" sz="1200" spc="1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Trends</a:t>
            </a:r>
            <a:r>
              <a:rPr dirty="0" u="heavy" sz="1200" spc="1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7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:</a:t>
            </a:r>
            <a:r>
              <a:rPr dirty="0" u="heavy" sz="1200" spc="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section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uses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line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charts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to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show: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11550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vs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over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time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1155065" algn="l"/>
              </a:tabLst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Ownership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shift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trends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11550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Decade-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5080">
              <a:lnSpc>
                <a:spcPct val="127000"/>
              </a:lnSpc>
            </a:pPr>
            <a:r>
              <a:rPr dirty="0" u="heavy" sz="1200" spc="60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Times New Roman"/>
                <a:cs typeface="Times New Roman"/>
              </a:rPr>
              <a:t>Insight: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institutions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have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increased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significantly,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especially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after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2000.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87500" y="7249043"/>
            <a:ext cx="5161280" cy="18034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Clr>
                <a:srgbClr val="BE8F00"/>
              </a:buClr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Geographic</a:t>
            </a:r>
            <a:r>
              <a:rPr dirty="0" u="heavy" sz="1200" spc="2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Distribution</a:t>
            </a:r>
            <a:r>
              <a:rPr dirty="0" u="heavy" sz="1200" spc="2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Analysis:</a:t>
            </a:r>
            <a:r>
              <a:rPr dirty="0" u="heavy" sz="1200" spc="2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1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section</a:t>
            </a:r>
            <a:r>
              <a:rPr dirty="0" sz="1200" spc="1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includes: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Clr>
                <a:srgbClr val="BE8F00"/>
              </a:buClr>
              <a:buSzPct val="75000"/>
              <a:buFont typeface="Tahoma"/>
              <a:buChar char="●"/>
              <a:tabLst>
                <a:tab pos="1155065" algn="l"/>
              </a:tabLst>
            </a:pP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1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Clr>
                <a:srgbClr val="BE8F00"/>
              </a:buClr>
              <a:buSzPct val="75000"/>
              <a:buFont typeface="Tahoma"/>
              <a:buChar char="●"/>
              <a:tabLst>
                <a:tab pos="1155065" algn="l"/>
              </a:tabLst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to-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ratio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by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85"/>
              </a:spcBef>
              <a:buClr>
                <a:srgbClr val="BE8F00"/>
              </a:buClr>
              <a:buSzPct val="75000"/>
              <a:buFont typeface="Tahoma"/>
              <a:buChar char="●"/>
              <a:tabLst>
                <a:tab pos="11550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vs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urban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5080">
              <a:lnSpc>
                <a:spcPct val="127000"/>
              </a:lnSpc>
            </a:pPr>
            <a:r>
              <a:rPr dirty="0" u="heavy" sz="1200" spc="60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Times New Roman"/>
                <a:cs typeface="Times New Roman"/>
              </a:rPr>
              <a:t>Insight: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Certain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show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concentration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and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private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dominance.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6450" y="933450"/>
            <a:ext cx="3619500" cy="1609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5925" y="5418881"/>
            <a:ext cx="4400550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7500" y="3515467"/>
            <a:ext cx="5279390" cy="110680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Clr>
                <a:srgbClr val="BE8F00"/>
              </a:buClr>
              <a:buFont typeface="Arial"/>
              <a:buChar char="●"/>
              <a:tabLst>
                <a:tab pos="240665" algn="l"/>
              </a:tabLst>
            </a:pPr>
            <a:r>
              <a:rPr dirty="0" u="heavy" sz="1200" spc="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Institutional</a:t>
            </a:r>
            <a:r>
              <a:rPr dirty="0" u="heavy" sz="1200" spc="1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Distribution</a:t>
            </a:r>
            <a:r>
              <a:rPr dirty="0" u="heavy" sz="1200" spc="11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by</a:t>
            </a:r>
            <a:r>
              <a:rPr dirty="0" u="heavy" sz="1200" spc="11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Management:</a:t>
            </a:r>
            <a:r>
              <a:rPr dirty="0" u="heavy" sz="1200" spc="1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This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section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shows: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Clr>
                <a:srgbClr val="BE8F00"/>
              </a:buClr>
              <a:buSzPct val="75000"/>
              <a:buFont typeface="Tahoma"/>
              <a:buChar char="●"/>
              <a:tabLst>
                <a:tab pos="1155065" algn="l"/>
              </a:tabLst>
            </a:pP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Management-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wise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(Private,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Government,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Aided)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Clr>
                <a:srgbClr val="BE8F00"/>
              </a:buClr>
              <a:buSzPct val="75000"/>
              <a:buFont typeface="Tahoma"/>
              <a:buChar char="●"/>
              <a:tabLst>
                <a:tab pos="11550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type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u="heavy" sz="1200" spc="60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Times New Roman"/>
                <a:cs typeface="Times New Roman"/>
              </a:rPr>
              <a:t>Insight: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unaided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form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majority.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300" y="6986623"/>
            <a:ext cx="4375785" cy="201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Filters</a:t>
            </a:r>
            <a:r>
              <a:rPr dirty="0" u="heavy" sz="1800" spc="1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and</a:t>
            </a:r>
            <a:r>
              <a:rPr dirty="0" u="heavy" sz="18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Drilldowns</a:t>
            </a:r>
            <a:r>
              <a:rPr dirty="0" sz="18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60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Interactive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filters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allow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users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dynamically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analyse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data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Tahoma"/>
              <a:buChar char="●"/>
              <a:tabLst>
                <a:tab pos="6978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19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Type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Location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(Rural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/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Urban)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Year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Establishment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662" y="1204366"/>
            <a:ext cx="3267075" cy="176366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5025" y="5056522"/>
            <a:ext cx="3562350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907643"/>
            <a:ext cx="5480685" cy="3873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These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filters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enable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detailed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drill-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down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40" b="1">
                <a:solidFill>
                  <a:srgbClr val="AF8300"/>
                </a:solidFill>
                <a:latin typeface="Cambria"/>
                <a:cs typeface="Cambria"/>
              </a:rPr>
              <a:t>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●"/>
              <a:tabLst>
                <a:tab pos="240665" algn="l"/>
              </a:tabLst>
            </a:pPr>
            <a:r>
              <a:rPr dirty="0" u="heavy" sz="18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Dashboard</a:t>
            </a:r>
            <a:r>
              <a:rPr dirty="0" u="heavy" sz="1800" spc="2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spc="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Explanation</a:t>
            </a:r>
            <a:r>
              <a:rPr dirty="0" sz="1800" spc="4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241300" marR="5080">
              <a:lnSpc>
                <a:spcPct val="210300"/>
              </a:lnSpc>
              <a:spcBef>
                <a:spcPts val="170"/>
              </a:spcBef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dashboard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provides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comprehensive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view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of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concentration. </a:t>
            </a:r>
            <a:r>
              <a:rPr dirty="0" sz="1200" spc="-30">
                <a:solidFill>
                  <a:srgbClr val="AF8300"/>
                </a:solidFill>
                <a:latin typeface="Times New Roman"/>
                <a:cs typeface="Times New Roman"/>
              </a:rPr>
              <a:t>Key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findings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Tahoma"/>
              <a:buChar char="●"/>
              <a:tabLst>
                <a:tab pos="6978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dominate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Indian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has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accelerated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recent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decades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Rural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areas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also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show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strong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presence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Institutional</a:t>
            </a:r>
            <a:r>
              <a:rPr dirty="0" sz="1200" spc="9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distribution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varies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significantly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across</a:t>
            </a:r>
            <a:r>
              <a:rPr dirty="0" sz="1200" spc="1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●"/>
              <a:tabLst>
                <a:tab pos="697865" algn="l"/>
              </a:tabLst>
            </a:pP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is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expected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AF8300"/>
                </a:solidFill>
                <a:latin typeface="Times New Roman"/>
                <a:cs typeface="Times New Roman"/>
              </a:rPr>
              <a:t>to</a:t>
            </a:r>
            <a:r>
              <a:rPr dirty="0" sz="1200" spc="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continue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504825">
              <a:lnSpc>
                <a:spcPct val="127000"/>
              </a:lnSpc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The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dashboard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enables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easy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interpretation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through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visualisations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and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interactive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exploration.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2047" y="5277855"/>
            <a:ext cx="2128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 b="1">
                <a:solidFill>
                  <a:srgbClr val="7E6000"/>
                </a:solidFill>
                <a:latin typeface="Cambria"/>
                <a:cs typeface="Cambria"/>
              </a:rPr>
              <a:t>Insights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100" b="1">
                <a:solidFill>
                  <a:srgbClr val="7E6000"/>
                </a:solidFill>
                <a:latin typeface="Cambria"/>
                <a:cs typeface="Cambria"/>
              </a:rPr>
              <a:t>Summary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87500" y="5788878"/>
            <a:ext cx="5220970" cy="3044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354330" indent="-228600">
              <a:lnSpc>
                <a:spcPct val="127000"/>
              </a:lnSpc>
              <a:spcBef>
                <a:spcPts val="100"/>
              </a:spcBef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Private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institutions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are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the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primary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drivers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of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higher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education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expansion</a:t>
            </a:r>
            <a:endParaRPr sz="1200">
              <a:latin typeface="Cambria"/>
              <a:cs typeface="Cambria"/>
            </a:endParaRPr>
          </a:p>
          <a:p>
            <a:pPr algn="just" marL="241300" marR="117475">
              <a:lnSpc>
                <a:spcPct val="127000"/>
              </a:lnSpc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With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62.74%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under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management,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policymakers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must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recognize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that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India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is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largely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dependent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on private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participation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rather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than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expansion.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432434" indent="-228600">
              <a:lnSpc>
                <a:spcPct val="127000"/>
              </a:lnSpc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India’s</a:t>
            </a:r>
            <a:r>
              <a:rPr dirty="0" u="heavy" sz="1200" spc="1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higher</a:t>
            </a:r>
            <a:r>
              <a:rPr dirty="0" u="heavy" sz="12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education</a:t>
            </a:r>
            <a:r>
              <a:rPr dirty="0" u="heavy" sz="12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system</a:t>
            </a:r>
            <a:r>
              <a:rPr dirty="0" u="heavy" sz="12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is</a:t>
            </a:r>
            <a:r>
              <a:rPr dirty="0" u="heavy" sz="1200" spc="19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structurally</a:t>
            </a:r>
            <a:r>
              <a:rPr dirty="0" u="heavy" sz="12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shifting</a:t>
            </a:r>
            <a:r>
              <a:rPr dirty="0" u="heavy" sz="1200" spc="19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toward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privatization</a:t>
            </a:r>
            <a:endParaRPr sz="1200">
              <a:latin typeface="Cambria"/>
              <a:cs typeface="Cambria"/>
            </a:endParaRPr>
          </a:p>
          <a:p>
            <a:pPr algn="just" marL="241300" marR="5080">
              <a:lnSpc>
                <a:spcPct val="127000"/>
              </a:lnSpc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to-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ratio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of 1.99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indicates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significant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structural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shift,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requiring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regulatory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frameworks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ensure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quality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affordability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-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Private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growth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is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uneven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and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concentrated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specific</a:t>
            </a:r>
            <a:r>
              <a:rPr dirty="0" u="heavy" sz="1200" spc="14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states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7500" y="858302"/>
            <a:ext cx="5187950" cy="188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132715">
              <a:lnSpc>
                <a:spcPct val="127000"/>
              </a:lnSpc>
              <a:spcBef>
                <a:spcPts val="100"/>
              </a:spcBef>
            </a:pP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wise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shows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concentration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select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states, indicating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need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region-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specific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planning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rather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than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uniform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national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policies.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497840" indent="-228600">
              <a:lnSpc>
                <a:spcPct val="127000"/>
              </a:lnSpc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Certain</a:t>
            </a:r>
            <a:r>
              <a:rPr dirty="0" u="heavy" sz="12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time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periods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show</a:t>
            </a:r>
            <a:r>
              <a:rPr dirty="0" u="heavy" sz="1200" spc="18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rapid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expansion,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indicating</a:t>
            </a:r>
            <a:r>
              <a:rPr dirty="0" u="heavy" sz="1200" spc="18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policy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influence</a:t>
            </a:r>
            <a:endParaRPr sz="1200">
              <a:latin typeface="Cambria"/>
              <a:cs typeface="Cambria"/>
            </a:endParaRPr>
          </a:p>
          <a:p>
            <a:pPr marL="241300" marR="5080">
              <a:lnSpc>
                <a:spcPct val="127000"/>
              </a:lnSpc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spikes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suggest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that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policies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directly</a:t>
            </a:r>
            <a:r>
              <a:rPr dirty="0" sz="1200" spc="9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influence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higher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expansion,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highlighting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importance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strategic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planning.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87500" y="3292810"/>
            <a:ext cx="5179060" cy="5355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4440">
              <a:lnSpc>
                <a:spcPct val="100000"/>
              </a:lnSpc>
              <a:spcBef>
                <a:spcPts val="100"/>
              </a:spcBef>
            </a:pPr>
            <a:r>
              <a:rPr dirty="0" sz="1800" spc="70" b="1">
                <a:solidFill>
                  <a:srgbClr val="7E6000"/>
                </a:solidFill>
                <a:latin typeface="Cambria"/>
                <a:cs typeface="Cambria"/>
              </a:rPr>
              <a:t>Recommendations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800">
              <a:latin typeface="Cambria"/>
              <a:cs typeface="Cambria"/>
            </a:endParaRPr>
          </a:p>
          <a:p>
            <a:pPr marL="241300" marR="129539" indent="-228600">
              <a:lnSpc>
                <a:spcPct val="127000"/>
              </a:lnSpc>
              <a:buFont typeface="Arial"/>
              <a:buChar char="●"/>
              <a:tabLst>
                <a:tab pos="241300" algn="l"/>
              </a:tabLst>
            </a:pP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Recommendation</a:t>
            </a:r>
            <a:r>
              <a:rPr dirty="0" u="heavy" sz="1700" spc="22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1:</a:t>
            </a:r>
            <a:r>
              <a:rPr dirty="0" u="heavy" sz="1700" spc="229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Increase</a:t>
            </a:r>
            <a:r>
              <a:rPr dirty="0" u="heavy" sz="1700" spc="229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government</a:t>
            </a:r>
            <a:r>
              <a:rPr dirty="0" sz="1700" spc="-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colleges</a:t>
            </a:r>
            <a:r>
              <a:rPr dirty="0" u="heavy" sz="1700" spc="16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</a:t>
            </a:r>
            <a:r>
              <a:rPr dirty="0" u="heavy" sz="1700" spc="16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states</a:t>
            </a:r>
            <a:r>
              <a:rPr dirty="0" u="heavy" sz="1700" spc="16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with</a:t>
            </a:r>
            <a:r>
              <a:rPr dirty="0" u="heavy" sz="1700" spc="16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5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high</a:t>
            </a:r>
            <a:r>
              <a:rPr dirty="0" u="heavy" sz="1700" spc="16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private</a:t>
            </a:r>
            <a:r>
              <a:rPr dirty="0" u="heavy" sz="1700" spc="16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dominance</a:t>
            </a:r>
            <a:endParaRPr sz="1700">
              <a:latin typeface="Cambria"/>
              <a:cs typeface="Cambria"/>
            </a:endParaRPr>
          </a:p>
          <a:p>
            <a:pPr lvl="1" marL="697865" marR="294640" indent="-228600">
              <a:lnSpc>
                <a:spcPct val="126600"/>
              </a:lnSpc>
              <a:spcBef>
                <a:spcPts val="100"/>
              </a:spcBef>
              <a:buClr>
                <a:srgbClr val="BE8F00"/>
              </a:buClr>
              <a:buSzPct val="141666"/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Mapped</a:t>
            </a:r>
            <a:r>
              <a:rPr dirty="0" u="heavy" sz="1200" spc="1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Insight:</a:t>
            </a:r>
            <a:r>
              <a:rPr dirty="0" sz="1500" spc="5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5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500" spc="90">
                <a:solidFill>
                  <a:srgbClr val="BE8F00"/>
                </a:solidFill>
                <a:latin typeface="Times New Roman"/>
                <a:cs typeface="Times New Roman"/>
              </a:rPr>
              <a:t>institutions</a:t>
            </a:r>
            <a:r>
              <a:rPr dirty="0" sz="15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500" spc="95">
                <a:solidFill>
                  <a:srgbClr val="BE8F00"/>
                </a:solidFill>
                <a:latin typeface="Times New Roman"/>
                <a:cs typeface="Times New Roman"/>
              </a:rPr>
              <a:t>dominate</a:t>
            </a:r>
            <a:r>
              <a:rPr dirty="0" sz="15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higher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education,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with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Private-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to-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ratio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1.99.</a:t>
            </a:r>
            <a:endParaRPr sz="1200">
              <a:latin typeface="Times New Roman"/>
              <a:cs typeface="Times New Roman"/>
            </a:endParaRPr>
          </a:p>
          <a:p>
            <a:pPr lvl="1" marL="698500" marR="38735" indent="-228600">
              <a:lnSpc>
                <a:spcPct val="127000"/>
              </a:lnSpc>
              <a:buFont typeface="Arial"/>
              <a:buChar char="○"/>
              <a:tabLst>
                <a:tab pos="698500" algn="l"/>
              </a:tabLst>
            </a:pPr>
            <a:r>
              <a:rPr dirty="0" u="heavy" sz="1200" spc="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Recommendation: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should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establish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public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where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institutions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significantly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outnumber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Business</a:t>
            </a:r>
            <a:r>
              <a:rPr dirty="0" u="heavy" sz="1200" spc="10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Impact: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Improves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affordability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Reduces</a:t>
            </a:r>
            <a:r>
              <a:rPr dirty="0" sz="1200" spc="11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over-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dependence</a:t>
            </a:r>
            <a:r>
              <a:rPr dirty="0" sz="1200" spc="1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on</a:t>
            </a:r>
            <a:r>
              <a:rPr dirty="0" sz="1200" spc="1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institutions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Ensures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equal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access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Feasibility: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High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feasibility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through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phased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expansion</a:t>
            </a:r>
            <a:endParaRPr sz="1200">
              <a:latin typeface="Times New Roman"/>
              <a:cs typeface="Times New Roman"/>
            </a:endParaRPr>
          </a:p>
          <a:p>
            <a:pPr lvl="2" marL="1155700" marR="353060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Can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be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implemented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via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central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state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government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programs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070"/>
              </a:spcBef>
              <a:buClr>
                <a:srgbClr val="BE8F00"/>
              </a:buClr>
              <a:buFont typeface="Tahoma"/>
              <a:buChar char="■"/>
            </a:pPr>
            <a:endParaRPr sz="1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27000"/>
              </a:lnSpc>
              <a:buFont typeface="Arial"/>
              <a:buChar char="●"/>
              <a:tabLst>
                <a:tab pos="241300" algn="l"/>
              </a:tabLst>
            </a:pP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</a:t>
            </a:r>
            <a:r>
              <a:rPr dirty="0" u="heavy" sz="1700" spc="25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2:</a:t>
            </a:r>
            <a:r>
              <a:rPr dirty="0" u="heavy" sz="1700" spc="254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Focus</a:t>
            </a:r>
            <a:r>
              <a:rPr dirty="0" u="heavy" sz="1700" spc="25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on</a:t>
            </a:r>
            <a:r>
              <a:rPr dirty="0" u="heavy" sz="1700" spc="254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expanding</a:t>
            </a:r>
            <a:r>
              <a:rPr dirty="0" u="heavy" sz="1700" spc="25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higher</a:t>
            </a:r>
            <a:r>
              <a:rPr dirty="0" sz="1700" spc="-10" b="1">
                <a:solidFill>
                  <a:srgbClr val="BE8F00"/>
                </a:solid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education</a:t>
            </a:r>
            <a:r>
              <a:rPr dirty="0" u="heavy" sz="1700" spc="18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infrastructure</a:t>
            </a:r>
            <a:r>
              <a:rPr dirty="0" u="heavy" sz="1700" spc="18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</a:t>
            </a:r>
            <a:r>
              <a:rPr dirty="0" u="heavy" sz="1700" spc="18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rural</a:t>
            </a:r>
            <a:r>
              <a:rPr dirty="0" u="heavy" sz="1700" spc="18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areas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7500" y="844885"/>
            <a:ext cx="4947920" cy="799401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698500" marR="5080" indent="-228600">
              <a:lnSpc>
                <a:spcPct val="131700"/>
              </a:lnSpc>
              <a:spcBef>
                <a:spcPts val="240"/>
              </a:spcBef>
              <a:buSzPct val="141666"/>
              <a:buFont typeface="Arial"/>
              <a:buChar char="○"/>
              <a:tabLst>
                <a:tab pos="698500" algn="l"/>
              </a:tabLst>
            </a:pPr>
            <a:r>
              <a:rPr dirty="0" u="heavy" sz="12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Mapped</a:t>
            </a:r>
            <a:r>
              <a:rPr dirty="0" u="heavy" sz="1200" spc="13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Insight:</a:t>
            </a:r>
            <a:r>
              <a:rPr dirty="0" u="heavy" sz="1200" spc="30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5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500" spc="5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5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500" spc="80">
                <a:solidFill>
                  <a:srgbClr val="BE8F00"/>
                </a:solidFill>
                <a:latin typeface="Times New Roman"/>
                <a:cs typeface="Times New Roman"/>
              </a:rPr>
              <a:t>are</a:t>
            </a:r>
            <a:r>
              <a:rPr dirty="0" sz="15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500" spc="85">
                <a:solidFill>
                  <a:srgbClr val="BE8F00"/>
                </a:solidFill>
                <a:latin typeface="Times New Roman"/>
                <a:cs typeface="Times New Roman"/>
              </a:rPr>
              <a:t>concentrated</a:t>
            </a:r>
            <a:r>
              <a:rPr dirty="0" sz="15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in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urban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areas, creating rural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access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gaps.</a:t>
            </a:r>
            <a:endParaRPr sz="1200">
              <a:latin typeface="Times New Roman"/>
              <a:cs typeface="Times New Roman"/>
            </a:endParaRPr>
          </a:p>
          <a:p>
            <a:pPr marL="698500" marR="40005" indent="-228600">
              <a:lnSpc>
                <a:spcPct val="127000"/>
              </a:lnSpc>
              <a:buFont typeface="Arial"/>
              <a:buChar char="○"/>
              <a:tabLst>
                <a:tab pos="698500" algn="l"/>
              </a:tabLst>
            </a:pPr>
            <a:r>
              <a:rPr dirty="0" u="heavy" sz="1200" spc="3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Recommendation: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should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prioritize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establishing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rural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semi-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urban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regions.</a:t>
            </a:r>
            <a:endParaRPr sz="12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Business</a:t>
            </a:r>
            <a:r>
              <a:rPr dirty="0" u="heavy" sz="1200" spc="10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Impact:</a:t>
            </a:r>
            <a:endParaRPr sz="1200">
              <a:latin typeface="Cambria"/>
              <a:cs typeface="Cambria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Improves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rural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access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Increases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student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enrollment</a:t>
            </a:r>
            <a:endParaRPr sz="1200">
              <a:latin typeface="Times New Roman"/>
              <a:cs typeface="Times New Roman"/>
            </a:endParaRPr>
          </a:p>
          <a:p>
            <a:pPr lvl="1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Supports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regional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economic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development</a:t>
            </a:r>
            <a:endParaRPr sz="120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Feasibility:</a:t>
            </a:r>
            <a:endParaRPr sz="1200">
              <a:latin typeface="Cambria"/>
              <a:cs typeface="Cambria"/>
            </a:endParaRPr>
          </a:p>
          <a:p>
            <a:pPr lvl="1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Moderate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feasibility</a:t>
            </a:r>
            <a:endParaRPr sz="1200">
              <a:latin typeface="Times New Roman"/>
              <a:cs typeface="Times New Roman"/>
            </a:endParaRPr>
          </a:p>
          <a:p>
            <a:pPr lvl="1" marL="1155700" marR="120014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Can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be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implemented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through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targeted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rural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education schemes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495300" indent="-228600">
              <a:lnSpc>
                <a:spcPct val="127000"/>
              </a:lnSpc>
              <a:buFont typeface="Arial"/>
              <a:buChar char="●"/>
              <a:tabLst>
                <a:tab pos="241300" algn="l"/>
              </a:tabLst>
            </a:pP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</a:t>
            </a:r>
            <a:r>
              <a:rPr dirty="0" u="heavy" sz="1700" spc="3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3:</a:t>
            </a:r>
            <a:r>
              <a:rPr dirty="0" u="heavy" sz="1700" spc="3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Implement</a:t>
            </a:r>
            <a:r>
              <a:rPr dirty="0" u="heavy" sz="1700" spc="3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stronger</a:t>
            </a:r>
            <a:r>
              <a:rPr dirty="0" sz="1700" spc="-10" b="1">
                <a:solidFill>
                  <a:srgbClr val="BE8F00"/>
                </a:solid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regulation</a:t>
            </a:r>
            <a:r>
              <a:rPr dirty="0" u="heavy" sz="1700" spc="24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and</a:t>
            </a:r>
            <a:r>
              <a:rPr dirty="0" u="heavy" sz="1700" spc="24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monitoring</a:t>
            </a:r>
            <a:r>
              <a:rPr dirty="0" u="heavy" sz="1700" spc="24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5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of</a:t>
            </a:r>
            <a:r>
              <a:rPr dirty="0" u="heavy" sz="1700" spc="24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private</a:t>
            </a:r>
            <a:r>
              <a:rPr dirty="0" sz="1700" spc="-10" b="1">
                <a:solidFill>
                  <a:srgbClr val="BE8F00"/>
                </a:solid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institutions</a:t>
            </a:r>
            <a:endParaRPr sz="1700">
              <a:latin typeface="Cambria"/>
              <a:cs typeface="Cambria"/>
            </a:endParaRPr>
          </a:p>
          <a:p>
            <a:pPr lvl="1" marL="698500" marR="220345" indent="-228600">
              <a:lnSpc>
                <a:spcPct val="127000"/>
              </a:lnSpc>
              <a:spcBef>
                <a:spcPts val="140"/>
              </a:spcBef>
              <a:buFont typeface="Arial"/>
              <a:buChar char="○"/>
              <a:tabLst>
                <a:tab pos="698500" algn="l"/>
              </a:tabLst>
            </a:pPr>
            <a:r>
              <a:rPr dirty="0" u="heavy" sz="1200" spc="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Mapped</a:t>
            </a:r>
            <a:r>
              <a:rPr dirty="0" u="heavy" sz="1200" spc="114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Insight: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Rapid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privatization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increases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BE8F00"/>
                </a:solidFill>
                <a:latin typeface="Times New Roman"/>
                <a:cs typeface="Times New Roman"/>
              </a:rPr>
              <a:t>the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need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BE8F00"/>
                </a:solidFill>
                <a:latin typeface="Times New Roman"/>
                <a:cs typeface="Times New Roman"/>
              </a:rPr>
              <a:t>for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regulatory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oversight.</a:t>
            </a:r>
            <a:endParaRPr sz="1200">
              <a:latin typeface="Times New Roman"/>
              <a:cs typeface="Times New Roman"/>
            </a:endParaRPr>
          </a:p>
          <a:p>
            <a:pPr lvl="1" marL="698500" marR="35560" indent="-228600">
              <a:lnSpc>
                <a:spcPct val="127000"/>
              </a:lnSpc>
              <a:buFont typeface="Arial"/>
              <a:buChar char="○"/>
              <a:tabLst>
                <a:tab pos="698500" algn="l"/>
              </a:tabLst>
            </a:pPr>
            <a:r>
              <a:rPr dirty="0" u="heavy" sz="1200" spc="3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Recommendation: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Introduce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stricter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quality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standards,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BE8F00"/>
                </a:solidFill>
                <a:latin typeface="Times New Roman"/>
                <a:cs typeface="Times New Roman"/>
              </a:rPr>
              <a:t>fee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regulations,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accreditation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policies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Business</a:t>
            </a:r>
            <a:r>
              <a:rPr dirty="0" u="heavy" sz="1200" spc="10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Impact: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Ensures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quality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Prevents</a:t>
            </a:r>
            <a:r>
              <a:rPr dirty="0" sz="1200" spc="1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excessive</a:t>
            </a:r>
            <a:r>
              <a:rPr dirty="0" sz="1200" spc="1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fee</a:t>
            </a:r>
            <a:r>
              <a:rPr dirty="0" sz="1200" spc="1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structures</a:t>
            </a:r>
            <a:endParaRPr sz="12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Protects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student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interests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697865" algn="l"/>
              </a:tabLst>
            </a:pP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Feasibility:</a:t>
            </a:r>
            <a:endParaRPr sz="1200">
              <a:latin typeface="Cambria"/>
              <a:cs typeface="Cambria"/>
            </a:endParaRPr>
          </a:p>
          <a:p>
            <a:pPr lvl="2" marL="1155065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155065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High</a:t>
            </a:r>
            <a:r>
              <a:rPr dirty="0" sz="1200" spc="1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feasibility</a:t>
            </a:r>
            <a:endParaRPr sz="1200">
              <a:latin typeface="Times New Roman"/>
              <a:cs typeface="Times New Roman"/>
            </a:endParaRPr>
          </a:p>
          <a:p>
            <a:pPr lvl="2" marL="1155700" marR="5080" indent="-228600">
              <a:lnSpc>
                <a:spcPct val="127000"/>
              </a:lnSpc>
              <a:buFont typeface="Tahoma"/>
              <a:buChar char="■"/>
              <a:tabLst>
                <a:tab pos="11557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Can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be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implemented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through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existing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regulatory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bodies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such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as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BE8F00"/>
                </a:solidFill>
                <a:latin typeface="Times New Roman"/>
                <a:cs typeface="Times New Roman"/>
              </a:rPr>
              <a:t>UGC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BE8F00"/>
                </a:solidFill>
                <a:latin typeface="Times New Roman"/>
                <a:cs typeface="Times New Roman"/>
              </a:rPr>
              <a:t>AICTE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070"/>
              </a:spcBef>
              <a:buClr>
                <a:srgbClr val="BE8F00"/>
              </a:buClr>
              <a:buFont typeface="Tahoma"/>
              <a:buChar char="■"/>
            </a:pPr>
            <a:endParaRPr sz="1200">
              <a:latin typeface="Times New Roman"/>
              <a:cs typeface="Times New Roman"/>
            </a:endParaRPr>
          </a:p>
          <a:p>
            <a:pPr marL="241300" marR="150495" indent="-228600">
              <a:lnSpc>
                <a:spcPct val="127000"/>
              </a:lnSpc>
              <a:buFont typeface="Arial"/>
              <a:buChar char="●"/>
              <a:tabLst>
                <a:tab pos="241300" algn="l"/>
              </a:tabLst>
            </a:pP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</a:t>
            </a:r>
            <a:r>
              <a:rPr dirty="0" u="heavy" sz="1700" spc="3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4:</a:t>
            </a:r>
            <a:r>
              <a:rPr dirty="0" u="heavy" sz="1700" spc="3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Promote</a:t>
            </a:r>
            <a:r>
              <a:rPr dirty="0" u="heavy" sz="1700" spc="3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Public-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Private</a:t>
            </a:r>
            <a:r>
              <a:rPr dirty="0" sz="1700" spc="-10" b="1">
                <a:solidFill>
                  <a:srgbClr val="BE8F00"/>
                </a:solid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Partnerships</a:t>
            </a:r>
            <a:r>
              <a:rPr dirty="0" u="heavy" sz="1700" spc="13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(PPP)</a:t>
            </a:r>
            <a:r>
              <a:rPr dirty="0" u="heavy" sz="1700" spc="14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</a:t>
            </a:r>
            <a:r>
              <a:rPr dirty="0" u="heavy" sz="1700" spc="14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7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education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858302"/>
            <a:ext cx="5843905" cy="433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0" marR="89535" indent="-228600">
              <a:lnSpc>
                <a:spcPct val="127000"/>
              </a:lnSpc>
              <a:spcBef>
                <a:spcPts val="100"/>
              </a:spcBef>
              <a:buFont typeface="Arial"/>
              <a:buChar char="○"/>
              <a:tabLst>
                <a:tab pos="1384300" algn="l"/>
              </a:tabLst>
            </a:pPr>
            <a:r>
              <a:rPr dirty="0" u="heavy" sz="1200" spc="3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Mapped</a:t>
            </a:r>
            <a:r>
              <a:rPr dirty="0" u="heavy" sz="1200" spc="9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3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Insight: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is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driving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most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2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education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expansion.</a:t>
            </a:r>
            <a:endParaRPr sz="1200">
              <a:latin typeface="Times New Roman"/>
              <a:cs typeface="Times New Roman"/>
            </a:endParaRPr>
          </a:p>
          <a:p>
            <a:pPr marL="1384300" marR="5080" indent="-228600">
              <a:lnSpc>
                <a:spcPct val="127000"/>
              </a:lnSpc>
              <a:buFont typeface="Arial"/>
              <a:buChar char="○"/>
              <a:tabLst>
                <a:tab pos="1384300" algn="l"/>
              </a:tabLst>
            </a:pPr>
            <a:r>
              <a:rPr dirty="0" u="heavy" sz="1200" spc="3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Recommendation: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Encourage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collaboration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between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government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institutions.</a:t>
            </a:r>
            <a:endParaRPr sz="1200">
              <a:latin typeface="Times New Roman"/>
              <a:cs typeface="Times New Roman"/>
            </a:endParaRPr>
          </a:p>
          <a:p>
            <a:pPr marL="1383665" indent="-227965">
              <a:lnSpc>
                <a:spcPct val="100000"/>
              </a:lnSpc>
              <a:spcBef>
                <a:spcPts val="385"/>
              </a:spcBef>
              <a:buFont typeface="Arial"/>
              <a:buChar char="○"/>
              <a:tabLst>
                <a:tab pos="1383665" algn="l"/>
              </a:tabLst>
            </a:pPr>
            <a:r>
              <a:rPr dirty="0" u="heavy" sz="120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Business</a:t>
            </a:r>
            <a:r>
              <a:rPr dirty="0" u="heavy" sz="1200" spc="10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Impact:</a:t>
            </a:r>
            <a:endParaRPr sz="1200">
              <a:latin typeface="Cambria"/>
              <a:cs typeface="Cambria"/>
            </a:endParaRPr>
          </a:p>
          <a:p>
            <a:pPr lvl="1" marL="1840864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840864" algn="l"/>
              </a:tabLst>
            </a:pP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Faster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infrastructure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development</a:t>
            </a:r>
            <a:endParaRPr sz="1200">
              <a:latin typeface="Times New Roman"/>
              <a:cs typeface="Times New Roman"/>
            </a:endParaRPr>
          </a:p>
          <a:p>
            <a:pPr lvl="1" marL="1841500" marR="1247775" indent="-228600">
              <a:lnSpc>
                <a:spcPct val="127000"/>
              </a:lnSpc>
              <a:buFont typeface="Tahoma"/>
              <a:buChar char="■"/>
              <a:tabLst>
                <a:tab pos="1841500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Reduced</a:t>
            </a:r>
            <a:r>
              <a:rPr dirty="0" sz="1200" spc="1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1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investment</a:t>
            </a:r>
            <a:r>
              <a:rPr dirty="0" sz="1200" spc="10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burden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Improved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quality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innovation</a:t>
            </a:r>
            <a:endParaRPr sz="1200">
              <a:latin typeface="Times New Roman"/>
              <a:cs typeface="Times New Roman"/>
            </a:endParaRPr>
          </a:p>
          <a:p>
            <a:pPr marL="1383665" indent="-227965">
              <a:lnSpc>
                <a:spcPct val="100000"/>
              </a:lnSpc>
              <a:spcBef>
                <a:spcPts val="390"/>
              </a:spcBef>
              <a:buFont typeface="Arial"/>
              <a:buChar char="○"/>
              <a:tabLst>
                <a:tab pos="1383665" algn="l"/>
              </a:tabLst>
            </a:pPr>
            <a:r>
              <a:rPr dirty="0" u="heavy" sz="1200" spc="-1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Feasibility:</a:t>
            </a:r>
            <a:endParaRPr sz="1200">
              <a:latin typeface="Cambria"/>
              <a:cs typeface="Cambria"/>
            </a:endParaRPr>
          </a:p>
          <a:p>
            <a:pPr lvl="1" marL="1840864" indent="-227965">
              <a:lnSpc>
                <a:spcPct val="100000"/>
              </a:lnSpc>
              <a:spcBef>
                <a:spcPts val="385"/>
              </a:spcBef>
              <a:buFont typeface="Tahoma"/>
              <a:buChar char="■"/>
              <a:tabLst>
                <a:tab pos="1840864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High</a:t>
            </a:r>
            <a:r>
              <a:rPr dirty="0" sz="1200" spc="1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feasibility</a:t>
            </a:r>
            <a:endParaRPr sz="1200">
              <a:latin typeface="Times New Roman"/>
              <a:cs typeface="Times New Roman"/>
            </a:endParaRPr>
          </a:p>
          <a:p>
            <a:pPr lvl="1" marL="1840864" indent="-227965">
              <a:lnSpc>
                <a:spcPct val="100000"/>
              </a:lnSpc>
              <a:spcBef>
                <a:spcPts val="390"/>
              </a:spcBef>
              <a:buFont typeface="Tahoma"/>
              <a:buChar char="■"/>
              <a:tabLst>
                <a:tab pos="1840864" algn="l"/>
              </a:tabLst>
            </a:pP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Already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successfully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used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multiple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sectors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8735">
              <a:lnSpc>
                <a:spcPct val="126400"/>
              </a:lnSpc>
            </a:pPr>
            <a:r>
              <a:rPr dirty="0" u="heavy" sz="1900" spc="20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Conclusion</a:t>
            </a:r>
            <a:r>
              <a:rPr dirty="0" u="heavy" sz="1900" spc="18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900" spc="65" b="1">
                <a:solidFill>
                  <a:srgbClr val="BE8F00"/>
                </a:solidFill>
                <a:uFill>
                  <a:solidFill>
                    <a:srgbClr val="BE8F00"/>
                  </a:solidFill>
                </a:uFill>
                <a:latin typeface="Cambria"/>
                <a:cs typeface="Cambria"/>
              </a:rPr>
              <a:t>: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These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recommendations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aim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ensure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balanced,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accessible,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and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sustainable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India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while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addressing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regional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and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privatization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challenges.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125095">
              <a:lnSpc>
                <a:spcPct val="100000"/>
              </a:lnSpc>
              <a:spcBef>
                <a:spcPts val="5"/>
              </a:spcBef>
            </a:pPr>
            <a:r>
              <a:rPr dirty="0" sz="1800" spc="75" b="1">
                <a:solidFill>
                  <a:srgbClr val="7E6000"/>
                </a:solidFill>
                <a:latin typeface="Cambria"/>
                <a:cs typeface="Cambria"/>
              </a:rPr>
              <a:t>Impact</a:t>
            </a:r>
            <a:r>
              <a:rPr dirty="0" sz="18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70" b="1">
                <a:solidFill>
                  <a:srgbClr val="7E6000"/>
                </a:solidFill>
                <a:latin typeface="Cambria"/>
                <a:cs typeface="Cambria"/>
              </a:rPr>
              <a:t>Estimation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87500" y="5657215"/>
            <a:ext cx="5229860" cy="268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31115" indent="-228600">
              <a:lnSpc>
                <a:spcPct val="127000"/>
              </a:lnSpc>
              <a:spcBef>
                <a:spcPts val="100"/>
              </a:spcBef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Save</a:t>
            </a:r>
            <a:r>
              <a:rPr dirty="0" u="heavy" sz="1200" spc="10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Cost:</a:t>
            </a:r>
            <a:r>
              <a:rPr dirty="0" sz="1200" spc="11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Optimizes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government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spending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by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identifying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priority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states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for</a:t>
            </a:r>
            <a:r>
              <a:rPr dirty="0" sz="1200" spc="20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public</a:t>
            </a:r>
            <a:r>
              <a:rPr dirty="0" sz="1200" spc="20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college</a:t>
            </a:r>
            <a:r>
              <a:rPr dirty="0" sz="1200" spc="2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expansion.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Arial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241300" marR="582930" indent="-228600">
              <a:lnSpc>
                <a:spcPct val="127000"/>
              </a:lnSpc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Improve</a:t>
            </a:r>
            <a:r>
              <a:rPr dirty="0" u="heavy" sz="1200" spc="114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Efficiency:</a:t>
            </a:r>
            <a:r>
              <a:rPr dirty="0" sz="1200" spc="12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Enables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faster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accurate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education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infrastructure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planning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using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real-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time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Arial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241300" marR="195580" indent="-228600">
              <a:lnSpc>
                <a:spcPct val="127000"/>
              </a:lnSpc>
              <a:buClr>
                <a:srgbClr val="BE8F00"/>
              </a:buClr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Improve</a:t>
            </a:r>
            <a:r>
              <a:rPr dirty="0" u="heavy" sz="1200" spc="1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Service:</a:t>
            </a:r>
            <a:r>
              <a:rPr dirty="0" sz="1200" spc="12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Improves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access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to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higher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by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highlighting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underserved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rural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state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regions.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Font typeface="Arial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2800"/>
              </a:lnSpc>
              <a:buClr>
                <a:srgbClr val="BE8F00"/>
              </a:buClr>
              <a:buSzPct val="141666"/>
              <a:buFont typeface="Arial"/>
              <a:buChar char="●"/>
              <a:tabLst>
                <a:tab pos="241300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Reduce</a:t>
            </a:r>
            <a:r>
              <a:rPr dirty="0" u="heavy" sz="1200" spc="1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Risk:</a:t>
            </a:r>
            <a:r>
              <a:rPr dirty="0" sz="1200" spc="15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Helps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prevent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excessive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privatization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ensures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balanced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BE8F00"/>
                </a:solidFill>
                <a:latin typeface="Times New Roman"/>
                <a:cs typeface="Times New Roman"/>
              </a:rPr>
              <a:t>affordable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500" spc="45">
                <a:solidFill>
                  <a:srgbClr val="BE8F00"/>
                </a:solidFill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11012" y="898042"/>
            <a:ext cx="1350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Limitations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87500" y="1666066"/>
            <a:ext cx="3607435" cy="281241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200" spc="17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Issues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No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data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BE8F00"/>
                </a:solidFill>
                <a:latin typeface="Times New Roman"/>
                <a:cs typeface="Times New Roman"/>
              </a:rPr>
              <a:t>on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students,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faculty,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or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quality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Possible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missing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 or incomplete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records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No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status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(active/closed)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of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institutions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Assumption</a:t>
            </a:r>
            <a:r>
              <a:rPr dirty="0" u="heavy" sz="1200" spc="32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Risks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More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≠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better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access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or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quality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Rural/Urban</a:t>
            </a:r>
            <a:r>
              <a:rPr dirty="0" sz="1200" spc="11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classification</a:t>
            </a:r>
            <a:r>
              <a:rPr dirty="0" sz="1200" spc="11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assumed</a:t>
            </a:r>
            <a:r>
              <a:rPr dirty="0" sz="1200" spc="114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correct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All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colleges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assumed</a:t>
            </a: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equal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in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size/capacity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Cannot</a:t>
            </a:r>
            <a:r>
              <a:rPr dirty="0" u="heavy" sz="1200" spc="17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Be</a:t>
            </a:r>
            <a:r>
              <a:rPr dirty="0" u="heavy" sz="1200" spc="17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Concluded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quality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BE8F00"/>
                </a:solidFill>
                <a:latin typeface="Times New Roman"/>
                <a:cs typeface="Times New Roman"/>
              </a:rPr>
              <a:t>differences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Student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outcomes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or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placements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Reasons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BE8F00"/>
                </a:solidFill>
                <a:latin typeface="Times New Roman"/>
                <a:cs typeface="Times New Roman"/>
              </a:rPr>
              <a:t>behind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private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sector</a:t>
            </a:r>
            <a:r>
              <a:rPr dirty="0" sz="1200" spc="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dominance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39403" y="4644840"/>
            <a:ext cx="1494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6000"/>
                </a:solidFill>
                <a:latin typeface="Cambria"/>
                <a:cs typeface="Cambria"/>
              </a:rPr>
              <a:t>Future</a:t>
            </a:r>
            <a:r>
              <a:rPr dirty="0" sz="1800" spc="31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Scope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87500" y="5155863"/>
            <a:ext cx="2809875" cy="18834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More</a:t>
            </a:r>
            <a:r>
              <a:rPr dirty="0" u="heavy" sz="1200" spc="15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Analysis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State-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wise</a:t>
            </a: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expansion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Trend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over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BE8F00"/>
                </a:solidFill>
                <a:latin typeface="Times New Roman"/>
                <a:cs typeface="Times New Roman"/>
              </a:rPr>
              <a:t>years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45">
                <a:solidFill>
                  <a:srgbClr val="BE8F00"/>
                </a:solidFill>
                <a:latin typeface="Times New Roman"/>
                <a:cs typeface="Times New Roman"/>
              </a:rPr>
              <a:t>Specialisation</a:t>
            </a:r>
            <a:r>
              <a:rPr dirty="0" sz="1200" spc="3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BE8F00"/>
                </a:solidFill>
                <a:latin typeface="Times New Roman"/>
                <a:cs typeface="Times New Roman"/>
              </a:rPr>
              <a:t>growth</a:t>
            </a:r>
            <a:r>
              <a:rPr dirty="0" sz="1200" spc="3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BE8F00"/>
                </a:solidFill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240665" algn="l"/>
              </a:tabLst>
            </a:pP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New</a:t>
            </a:r>
            <a:r>
              <a:rPr dirty="0" u="heavy" sz="1200" spc="135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200" spc="14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200" spc="-10" b="1">
                <a:solidFill>
                  <a:srgbClr val="AF8300"/>
                </a:solidFill>
                <a:uFill>
                  <a:solidFill>
                    <a:srgbClr val="AF8300"/>
                  </a:solidFill>
                </a:uFill>
                <a:latin typeface="Cambria"/>
                <a:cs typeface="Cambria"/>
              </a:rPr>
              <a:t>Needed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70">
                <a:solidFill>
                  <a:srgbClr val="BE8F00"/>
                </a:solidFill>
                <a:latin typeface="Times New Roman"/>
                <a:cs typeface="Times New Roman"/>
              </a:rPr>
              <a:t>Student</a:t>
            </a:r>
            <a:r>
              <a:rPr dirty="0" sz="1200" spc="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enrollment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90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Placement</a:t>
            </a:r>
            <a:r>
              <a:rPr dirty="0" sz="1200" spc="1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Tahoma"/>
              <a:buChar char="○"/>
              <a:tabLst>
                <a:tab pos="697865" algn="l"/>
              </a:tabLst>
            </a:pPr>
            <a:r>
              <a:rPr dirty="0" sz="1200">
                <a:solidFill>
                  <a:srgbClr val="BE8F00"/>
                </a:solidFill>
                <a:latin typeface="Times New Roman"/>
                <a:cs typeface="Times New Roman"/>
              </a:rPr>
              <a:t>Faculty</a:t>
            </a:r>
            <a:r>
              <a:rPr dirty="0" sz="1200" spc="105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BE8F00"/>
                </a:solidFill>
                <a:latin typeface="Times New Roman"/>
                <a:cs typeface="Times New Roman"/>
              </a:rPr>
              <a:t>and</a:t>
            </a:r>
            <a:r>
              <a:rPr dirty="0" sz="1200" spc="1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BE8F00"/>
                </a:solidFill>
                <a:latin typeface="Times New Roman"/>
                <a:cs typeface="Times New Roman"/>
              </a:rPr>
              <a:t>infrastructure</a:t>
            </a:r>
            <a:r>
              <a:rPr dirty="0" sz="1200" spc="110">
                <a:solidFill>
                  <a:srgbClr val="BE8F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BE8F00"/>
                </a:solidFill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87500" y="7690346"/>
            <a:ext cx="3814445" cy="1059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69414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7E6000"/>
                </a:solidFill>
                <a:latin typeface="Cambria"/>
                <a:cs typeface="Cambria"/>
              </a:rPr>
              <a:t>Conclusion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885"/>
              </a:spcBef>
              <a:buFont typeface="Arial"/>
              <a:buChar char="●"/>
              <a:tabLst>
                <a:tab pos="2406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Private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colleges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dominate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overall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2406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Private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sector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drives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higher</a:t>
            </a:r>
            <a:r>
              <a:rPr dirty="0" sz="1200" spc="14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education</a:t>
            </a:r>
            <a:r>
              <a:rPr dirty="0" sz="1200" spc="14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expansion</a:t>
            </a:r>
            <a:endParaRPr sz="12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240665" algn="l"/>
              </a:tabLst>
            </a:pP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Higher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education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has</a:t>
            </a:r>
            <a:r>
              <a:rPr dirty="0" sz="1200" spc="190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AF8300"/>
                </a:solidFill>
                <a:latin typeface="Cambria"/>
                <a:cs typeface="Cambria"/>
              </a:rPr>
              <a:t>expanded</a:t>
            </a:r>
            <a:r>
              <a:rPr dirty="0" sz="1200" spc="185" b="1">
                <a:solidFill>
                  <a:srgbClr val="AF8300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AF8300"/>
                </a:solidFill>
                <a:latin typeface="Cambria"/>
                <a:cs typeface="Cambria"/>
              </a:rPr>
              <a:t>geographically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42900" y="1701801"/>
          <a:ext cx="7277100" cy="4646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723900"/>
                <a:gridCol w="685800"/>
                <a:gridCol w="723900"/>
                <a:gridCol w="800100"/>
                <a:gridCol w="812800"/>
                <a:gridCol w="596900"/>
                <a:gridCol w="1397000"/>
              </a:tblGrid>
              <a:tr h="673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600" spc="-1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Member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194945" marR="179705" indent="-10795">
                        <a:lnSpc>
                          <a:spcPct val="110200"/>
                        </a:lnSpc>
                        <a:spcBef>
                          <a:spcPts val="55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r>
                        <a:rPr dirty="0" sz="60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600" spc="5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Sourcing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Cleaning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KPI </a:t>
                      </a:r>
                      <a:r>
                        <a:rPr dirty="0" sz="600" spc="-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&amp;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Analysis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Dashboard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Report</a:t>
                      </a:r>
                      <a:r>
                        <a:rPr dirty="0" sz="60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Writing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PPT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Overall</a:t>
                      </a:r>
                      <a:r>
                        <a:rPr dirty="0" sz="60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Role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10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Gauri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Mehrotra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Secondary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Final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179070" indent="25400">
                        <a:lnSpc>
                          <a:spcPct val="110200"/>
                        </a:lnSpc>
                        <a:spcBef>
                          <a:spcPts val="52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dirty="0" sz="600" spc="5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Polish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600" spc="-1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Lead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Milind</a:t>
                      </a:r>
                      <a:r>
                        <a:rPr dirty="0" sz="600" spc="1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Bansal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Secondary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 marR="236854" indent="-10795">
                        <a:lnSpc>
                          <a:spcPct val="110200"/>
                        </a:lnSpc>
                        <a:spcBef>
                          <a:spcPts val="61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Analysis</a:t>
                      </a:r>
                      <a:r>
                        <a:rPr dirty="0" sz="600" spc="5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Insights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Section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Insights</a:t>
                      </a:r>
                      <a:r>
                        <a:rPr dirty="0" sz="600" spc="-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Lead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Sambhav</a:t>
                      </a:r>
                      <a:r>
                        <a:rPr dirty="0" sz="600" spc="-3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Kumar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Secondary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Descriptions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Dashboard</a:t>
                      </a:r>
                      <a:r>
                        <a:rPr dirty="0" sz="600" spc="-3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Architect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Abhishek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Verma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Secondary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Presentation</a:t>
                      </a:r>
                      <a:r>
                        <a:rPr dirty="0" sz="600" spc="-4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Designer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Abhishek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Kumar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Patel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Report</a:t>
                      </a:r>
                      <a:r>
                        <a:rPr dirty="0" sz="60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Manager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Himank</a:t>
                      </a:r>
                      <a:r>
                        <a:rPr dirty="0" sz="60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Kaushik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6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Presentation</a:t>
                      </a:r>
                      <a:r>
                        <a:rPr dirty="0" sz="600" spc="-4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Designer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1F1F1F"/>
                      </a:solidFill>
                      <a:prstDash val="solid"/>
                    </a:lnL>
                    <a:lnR w="12700">
                      <a:solidFill>
                        <a:srgbClr val="1F1F1F"/>
                      </a:solidFill>
                      <a:prstDash val="solid"/>
                    </a:lnR>
                    <a:lnT w="12700">
                      <a:solidFill>
                        <a:srgbClr val="1F1F1F"/>
                      </a:solidFill>
                      <a:prstDash val="solid"/>
                    </a:lnT>
                    <a:lnB w="12700">
                      <a:solidFill>
                        <a:srgbClr val="1F1F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2729063" y="898042"/>
            <a:ext cx="2314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7E6000"/>
                </a:solidFill>
                <a:latin typeface="Cambria"/>
                <a:cs typeface="Cambria"/>
              </a:rPr>
              <a:t>Contribution</a:t>
            </a:r>
            <a:r>
              <a:rPr dirty="0" sz="1800" spc="5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90" b="1">
                <a:solidFill>
                  <a:srgbClr val="7E6000"/>
                </a:solidFill>
                <a:latin typeface="Cambria"/>
                <a:cs typeface="Cambria"/>
              </a:rPr>
              <a:t>Matrix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1462" y="6640184"/>
            <a:ext cx="594995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3180" marR="5080" indent="-1301115">
              <a:lnSpc>
                <a:spcPct val="120500"/>
              </a:lnSpc>
              <a:spcBef>
                <a:spcPts val="100"/>
              </a:spcBef>
            </a:pPr>
            <a:r>
              <a:rPr dirty="0" u="heavy" sz="1100" spc="2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Declaration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r>
              <a:rPr dirty="0" sz="11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We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50" b="1">
                <a:solidFill>
                  <a:srgbClr val="7E6000"/>
                </a:solidFill>
                <a:latin typeface="Cambria"/>
                <a:cs typeface="Cambria"/>
              </a:rPr>
              <a:t>confirm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that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the</a:t>
            </a:r>
            <a:r>
              <a:rPr dirty="0" sz="11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above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contribution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details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are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accurate</a:t>
            </a:r>
            <a:r>
              <a:rPr dirty="0" sz="1100" spc="4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20" b="1">
                <a:solidFill>
                  <a:srgbClr val="7E6000"/>
                </a:solidFill>
                <a:latin typeface="Cambria"/>
                <a:cs typeface="Cambria"/>
              </a:rPr>
              <a:t>and</a:t>
            </a:r>
            <a:r>
              <a:rPr dirty="0" sz="1100" spc="4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7E6000"/>
                </a:solidFill>
                <a:latin typeface="Cambria"/>
                <a:cs typeface="Cambria"/>
              </a:rPr>
              <a:t>verifiable </a:t>
            </a:r>
            <a:r>
              <a:rPr dirty="0" sz="1100" spc="10" b="1">
                <a:solidFill>
                  <a:srgbClr val="7E6000"/>
                </a:solidFill>
                <a:latin typeface="Cambria"/>
                <a:cs typeface="Cambria"/>
              </a:rPr>
              <a:t>through</a:t>
            </a:r>
            <a:r>
              <a:rPr dirty="0" sz="1100" spc="17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10" b="1">
                <a:solidFill>
                  <a:srgbClr val="7E6000"/>
                </a:solidFill>
                <a:latin typeface="Cambria"/>
                <a:cs typeface="Cambria"/>
              </a:rPr>
              <a:t>version</a:t>
            </a:r>
            <a:r>
              <a:rPr dirty="0" sz="1100" spc="17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10" b="1">
                <a:solidFill>
                  <a:srgbClr val="7E6000"/>
                </a:solidFill>
                <a:latin typeface="Cambria"/>
                <a:cs typeface="Cambria"/>
              </a:rPr>
              <a:t>history</a:t>
            </a:r>
            <a:r>
              <a:rPr dirty="0" sz="1100" spc="17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10" b="1">
                <a:solidFill>
                  <a:srgbClr val="7E6000"/>
                </a:solidFill>
                <a:latin typeface="Cambria"/>
                <a:cs typeface="Cambria"/>
              </a:rPr>
              <a:t>and</a:t>
            </a:r>
            <a:r>
              <a:rPr dirty="0" sz="1100" spc="17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10" b="1">
                <a:solidFill>
                  <a:srgbClr val="7E6000"/>
                </a:solidFill>
                <a:latin typeface="Cambria"/>
                <a:cs typeface="Cambria"/>
              </a:rPr>
              <a:t>submitted</a:t>
            </a:r>
            <a:r>
              <a:rPr dirty="0" sz="1100" spc="175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100" spc="-10" b="1">
                <a:solidFill>
                  <a:srgbClr val="7E6000"/>
                </a:solidFill>
                <a:latin typeface="Cambria"/>
                <a:cs typeface="Cambria"/>
              </a:rPr>
              <a:t>artifacts.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1700" y="7482256"/>
            <a:ext cx="12541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1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Team</a:t>
            </a:r>
            <a:r>
              <a:rPr dirty="0" u="heavy" sz="1100" spc="14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100" spc="7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Sign</a:t>
            </a:r>
            <a:r>
              <a:rPr dirty="0" u="heavy" sz="1100" spc="14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1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Block</a:t>
            </a:r>
            <a:r>
              <a:rPr dirty="0" u="heavy" sz="1100" spc="14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100" spc="-5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: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33450" y="7929674"/>
            <a:ext cx="4657725" cy="590550"/>
            <a:chOff x="933450" y="7929674"/>
            <a:chExt cx="4657725" cy="59055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50" y="7958249"/>
              <a:ext cx="723900" cy="56197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5450" y="7967774"/>
              <a:ext cx="733424" cy="5524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6975" y="7929674"/>
              <a:ext cx="819150" cy="5905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4225" y="7939199"/>
              <a:ext cx="838200" cy="58102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0525" y="7967774"/>
              <a:ext cx="1390650" cy="552450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91187" y="7932650"/>
            <a:ext cx="882253" cy="5750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1430437"/>
            <a:ext cx="5457190" cy="741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11809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7E6000"/>
                </a:solidFill>
                <a:latin typeface="Cambria"/>
                <a:cs typeface="Cambria"/>
              </a:rPr>
              <a:t>Appendix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Python</a:t>
            </a:r>
            <a:r>
              <a:rPr dirty="0" u="heavy" sz="1800" spc="29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Script</a:t>
            </a:r>
            <a:r>
              <a:rPr dirty="0" u="heavy" sz="1800" spc="3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for</a:t>
            </a:r>
            <a:r>
              <a:rPr dirty="0" u="heavy" sz="1800" spc="295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randomisation</a:t>
            </a:r>
            <a:r>
              <a:rPr dirty="0" sz="1800" spc="30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import</a:t>
            </a:r>
            <a:r>
              <a:rPr dirty="0" sz="1200" spc="-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pandas</a:t>
            </a:r>
            <a:r>
              <a:rPr dirty="0" sz="1200" spc="-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as</a:t>
            </a:r>
            <a:r>
              <a:rPr dirty="0" sz="1200" spc="-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pd</a:t>
            </a:r>
            <a:endParaRPr sz="1200">
              <a:latin typeface="Times New Roman"/>
              <a:cs typeface="Times New Roman"/>
            </a:endParaRPr>
          </a:p>
          <a:p>
            <a:pPr marL="12700" marR="2794000">
              <a:lnSpc>
                <a:spcPct val="127000"/>
              </a:lnSpc>
            </a:pP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df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pd.read_csv("Cleaned</a:t>
            </a:r>
            <a:r>
              <a:rPr dirty="0" sz="1200" spc="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College.csv") </a:t>
            </a:r>
            <a:r>
              <a:rPr dirty="0" sz="1200" spc="-50">
                <a:solidFill>
                  <a:srgbClr val="AF8300"/>
                </a:solidFill>
                <a:latin typeface="Times New Roman"/>
                <a:cs typeface="Times New Roman"/>
              </a:rPr>
              <a:t>TARGET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9000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00" spc="-45">
                <a:solidFill>
                  <a:srgbClr val="AF8300"/>
                </a:solidFill>
                <a:latin typeface="Times New Roman"/>
                <a:cs typeface="Times New Roman"/>
              </a:rPr>
              <a:t>MIN_PER_STATE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30</a:t>
            </a:r>
            <a:endParaRPr sz="1200">
              <a:latin typeface="Times New Roman"/>
              <a:cs typeface="Times New Roman"/>
            </a:endParaRPr>
          </a:p>
          <a:p>
            <a:pPr marL="12700" marR="2771775">
              <a:lnSpc>
                <a:spcPct val="127000"/>
              </a:lnSpc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state_counts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df['State'].value_counts()</a:t>
            </a:r>
            <a:r>
              <a:rPr dirty="0" sz="1200" spc="5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state_counts.index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#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37751C"/>
                </a:solidFill>
                <a:latin typeface="Times New Roman"/>
                <a:cs typeface="Times New Roman"/>
              </a:rPr>
              <a:t>Step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1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-150">
                <a:solidFill>
                  <a:srgbClr val="37751C"/>
                </a:solidFill>
                <a:latin typeface="Times New Roman"/>
                <a:cs typeface="Times New Roman"/>
              </a:rPr>
              <a:t>—</a:t>
            </a:r>
            <a:r>
              <a:rPr dirty="0" sz="1200" spc="15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37751C"/>
                </a:solidFill>
                <a:latin typeface="Times New Roman"/>
                <a:cs typeface="Times New Roman"/>
              </a:rPr>
              <a:t>initial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37751C"/>
                </a:solidFill>
                <a:latin typeface="Times New Roman"/>
                <a:cs typeface="Times New Roman"/>
              </a:rPr>
              <a:t>allocation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27000"/>
              </a:lnSpc>
            </a:pP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allocation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{state: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min(MIN_PER_STATE,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state_counts[state])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states} </a:t>
            </a:r>
            <a:r>
              <a:rPr dirty="0" sz="1200" spc="55">
                <a:solidFill>
                  <a:srgbClr val="AF8300"/>
                </a:solidFill>
                <a:latin typeface="Times New Roman"/>
                <a:cs typeface="Times New Roman"/>
              </a:rPr>
              <a:t>current_total</a:t>
            </a:r>
            <a:r>
              <a:rPr dirty="0" sz="1200" spc="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sum(allocation.values())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remaining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AF8300"/>
                </a:solidFill>
                <a:latin typeface="Times New Roman"/>
                <a:cs typeface="Times New Roman"/>
              </a:rPr>
              <a:t>TARGET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-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current_total</a:t>
            </a:r>
            <a:endParaRPr sz="1200">
              <a:latin typeface="Times New Roman"/>
              <a:cs typeface="Times New Roman"/>
            </a:endParaRPr>
          </a:p>
          <a:p>
            <a:pPr marL="12700" marR="363220">
              <a:lnSpc>
                <a:spcPct val="127000"/>
              </a:lnSpc>
            </a:pP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#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37751C"/>
                </a:solidFill>
                <a:latin typeface="Times New Roman"/>
                <a:cs typeface="Times New Roman"/>
              </a:rPr>
              <a:t>Step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2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-150">
                <a:solidFill>
                  <a:srgbClr val="37751C"/>
                </a:solidFill>
                <a:latin typeface="Times New Roman"/>
                <a:cs typeface="Times New Roman"/>
              </a:rPr>
              <a:t>—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37751C"/>
                </a:solidFill>
                <a:latin typeface="Times New Roman"/>
                <a:cs typeface="Times New Roman"/>
              </a:rPr>
              <a:t>distribute</a:t>
            </a:r>
            <a:r>
              <a:rPr dirty="0" sz="1200" spc="35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37751C"/>
                </a:solidFill>
                <a:latin typeface="Times New Roman"/>
                <a:cs typeface="Times New Roman"/>
              </a:rPr>
              <a:t>remaining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37751C"/>
                </a:solidFill>
                <a:latin typeface="Times New Roman"/>
                <a:cs typeface="Times New Roman"/>
              </a:rPr>
              <a:t>proportionally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80">
                <a:solidFill>
                  <a:srgbClr val="37751C"/>
                </a:solidFill>
                <a:latin typeface="Times New Roman"/>
                <a:cs typeface="Times New Roman"/>
              </a:rPr>
              <a:t>to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70">
                <a:solidFill>
                  <a:srgbClr val="37751C"/>
                </a:solidFill>
                <a:latin typeface="Times New Roman"/>
                <a:cs typeface="Times New Roman"/>
              </a:rPr>
              <a:t>states</a:t>
            </a:r>
            <a:r>
              <a:rPr dirty="0" sz="1200" spc="35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90">
                <a:solidFill>
                  <a:srgbClr val="37751C"/>
                </a:solidFill>
                <a:latin typeface="Times New Roman"/>
                <a:cs typeface="Times New Roman"/>
              </a:rPr>
              <a:t>that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still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37751C"/>
                </a:solidFill>
                <a:latin typeface="Times New Roman"/>
                <a:cs typeface="Times New Roman"/>
              </a:rPr>
              <a:t>have</a:t>
            </a:r>
            <a:r>
              <a:rPr dirty="0" sz="1200" spc="3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37751C"/>
                </a:solidFill>
                <a:latin typeface="Times New Roman"/>
                <a:cs typeface="Times New Roman"/>
              </a:rPr>
              <a:t>data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capacity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{state: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state_counts[state]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-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allocation[state]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states}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while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remaining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&gt;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0:</a:t>
            </a:r>
            <a:endParaRPr sz="1200">
              <a:latin typeface="Times New Roman"/>
              <a:cs typeface="Times New Roman"/>
            </a:endParaRPr>
          </a:p>
          <a:p>
            <a:pPr marL="160655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states:</a:t>
            </a:r>
            <a:endParaRPr sz="1200">
              <a:latin typeface="Times New Roman"/>
              <a:cs typeface="Times New Roman"/>
            </a:endParaRPr>
          </a:p>
          <a:p>
            <a:pPr marL="456565" marR="3569970" indent="-148590">
              <a:lnSpc>
                <a:spcPct val="127000"/>
              </a:lnSpc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if</a:t>
            </a:r>
            <a:r>
              <a:rPr dirty="0" sz="1200" spc="-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capacity[state]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&gt;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0: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allocation[state]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+=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AF8300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390"/>
              </a:spcBef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capacity[state]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AF8300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385"/>
              </a:spcBef>
            </a:pP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remaining</a:t>
            </a:r>
            <a:r>
              <a:rPr dirty="0" sz="1200" spc="-1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105">
                <a:solidFill>
                  <a:srgbClr val="AF8300"/>
                </a:solidFill>
                <a:latin typeface="Times New Roman"/>
                <a:cs typeface="Times New Roman"/>
              </a:rPr>
              <a:t>-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AF8300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605155" marR="3792854" indent="-148590">
              <a:lnSpc>
                <a:spcPct val="127000"/>
              </a:lnSpc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if</a:t>
            </a:r>
            <a:r>
              <a:rPr dirty="0" sz="1200" spc="-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remaining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==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0: </a:t>
            </a:r>
            <a:r>
              <a:rPr dirty="0" sz="1200" spc="40">
                <a:solidFill>
                  <a:srgbClr val="AF8300"/>
                </a:solidFill>
                <a:latin typeface="Times New Roman"/>
                <a:cs typeface="Times New Roman"/>
              </a:rPr>
              <a:t>break</a:t>
            </a:r>
            <a:endParaRPr sz="1200">
              <a:latin typeface="Times New Roman"/>
              <a:cs typeface="Times New Roman"/>
            </a:endParaRPr>
          </a:p>
          <a:p>
            <a:pPr marL="12700" marR="3754120">
              <a:lnSpc>
                <a:spcPct val="127000"/>
              </a:lnSpc>
            </a:pP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#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5">
                <a:solidFill>
                  <a:srgbClr val="37751C"/>
                </a:solidFill>
                <a:latin typeface="Times New Roman"/>
                <a:cs typeface="Times New Roman"/>
              </a:rPr>
              <a:t>Step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37751C"/>
                </a:solidFill>
                <a:latin typeface="Times New Roman"/>
                <a:cs typeface="Times New Roman"/>
              </a:rPr>
              <a:t>3</a:t>
            </a:r>
            <a:r>
              <a:rPr dirty="0" sz="1200" spc="10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-150">
                <a:solidFill>
                  <a:srgbClr val="37751C"/>
                </a:solidFill>
                <a:latin typeface="Times New Roman"/>
                <a:cs typeface="Times New Roman"/>
              </a:rPr>
              <a:t>—</a:t>
            </a:r>
            <a:r>
              <a:rPr dirty="0" sz="1200" spc="15">
                <a:solidFill>
                  <a:srgbClr val="37751C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37751C"/>
                </a:solidFill>
                <a:latin typeface="Times New Roman"/>
                <a:cs typeface="Times New Roman"/>
              </a:rPr>
              <a:t>sample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sampled_df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20">
                <a:solidFill>
                  <a:srgbClr val="AF8300"/>
                </a:solidFill>
                <a:latin typeface="Times New Roman"/>
                <a:cs typeface="Times New Roman"/>
              </a:rPr>
              <a:t>=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pd.concat([</a:t>
            </a:r>
            <a:endParaRPr sz="1200">
              <a:latin typeface="Times New Roman"/>
              <a:cs typeface="Times New Roman"/>
            </a:endParaRPr>
          </a:p>
          <a:p>
            <a:pPr marL="160655" marR="696595">
              <a:lnSpc>
                <a:spcPct val="127000"/>
              </a:lnSpc>
            </a:pP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df[df['State']</a:t>
            </a:r>
            <a:r>
              <a:rPr dirty="0" sz="1200" spc="1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AF8300"/>
                </a:solidFill>
                <a:latin typeface="Times New Roman"/>
                <a:cs typeface="Times New Roman"/>
              </a:rPr>
              <a:t>==</a:t>
            </a:r>
            <a:r>
              <a:rPr dirty="0" sz="1200" spc="14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50">
                <a:solidFill>
                  <a:srgbClr val="AF8300"/>
                </a:solidFill>
                <a:latin typeface="Times New Roman"/>
                <a:cs typeface="Times New Roman"/>
              </a:rPr>
              <a:t>state].sample(n=allocation[state],</a:t>
            </a:r>
            <a:r>
              <a:rPr dirty="0" sz="1200" spc="14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random_state=42)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for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state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5">
                <a:solidFill>
                  <a:srgbClr val="AF8300"/>
                </a:solidFill>
                <a:latin typeface="Times New Roman"/>
                <a:cs typeface="Times New Roman"/>
              </a:rPr>
              <a:t>in</a:t>
            </a:r>
            <a:r>
              <a:rPr dirty="0" sz="1200" spc="3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60">
                <a:solidFill>
                  <a:srgbClr val="AF8300"/>
                </a:solidFill>
                <a:latin typeface="Times New Roman"/>
                <a:cs typeface="Times New Roman"/>
              </a:rPr>
              <a:t>states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00" spc="-25">
                <a:solidFill>
                  <a:srgbClr val="AF8300"/>
                </a:solidFill>
                <a:latin typeface="Times New Roman"/>
                <a:cs typeface="Times New Roman"/>
              </a:rPr>
              <a:t>])</a:t>
            </a:r>
            <a:endParaRPr sz="1200">
              <a:latin typeface="Times New Roman"/>
              <a:cs typeface="Times New Roman"/>
            </a:endParaRPr>
          </a:p>
          <a:p>
            <a:pPr marL="12700" marR="2703195">
              <a:lnSpc>
                <a:spcPct val="127000"/>
              </a:lnSpc>
            </a:pPr>
            <a:r>
              <a:rPr dirty="0" sz="1200" spc="45">
                <a:solidFill>
                  <a:srgbClr val="AF8300"/>
                </a:solidFill>
                <a:latin typeface="Times New Roman"/>
                <a:cs typeface="Times New Roman"/>
              </a:rPr>
              <a:t>print("Final</a:t>
            </a:r>
            <a:r>
              <a:rPr dirty="0" sz="1200" spc="70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AF8300"/>
                </a:solidFill>
                <a:latin typeface="Times New Roman"/>
                <a:cs typeface="Times New Roman"/>
              </a:rPr>
              <a:t>rows:",</a:t>
            </a:r>
            <a:r>
              <a:rPr dirty="0" sz="1200" spc="75">
                <a:solidFill>
                  <a:srgbClr val="AF8300"/>
                </a:solidFill>
                <a:latin typeface="Times New Roman"/>
                <a:cs typeface="Times New Roman"/>
              </a:rPr>
              <a:t> </a:t>
            </a:r>
            <a:r>
              <a:rPr dirty="0" sz="1200" spc="35">
                <a:solidFill>
                  <a:srgbClr val="AF8300"/>
                </a:solidFill>
                <a:latin typeface="Times New Roman"/>
                <a:cs typeface="Times New Roman"/>
              </a:rPr>
              <a:t>len(sampled_df)) </a:t>
            </a:r>
            <a:r>
              <a:rPr dirty="0" sz="1200" spc="-10">
                <a:solidFill>
                  <a:srgbClr val="AF8300"/>
                </a:solidFill>
                <a:latin typeface="Times New Roman"/>
                <a:cs typeface="Times New Roman"/>
              </a:rPr>
              <a:t>print(sampled_df['State'].value_counts())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910615"/>
            <a:ext cx="1892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Data</a:t>
            </a:r>
            <a:r>
              <a:rPr dirty="0" u="heavy" sz="1800" spc="31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800" b="1">
                <a:solidFill>
                  <a:srgbClr val="7E6000"/>
                </a:solidFill>
                <a:uFill>
                  <a:solidFill>
                    <a:srgbClr val="7E6000"/>
                  </a:solidFill>
                </a:uFill>
                <a:latin typeface="Cambria"/>
                <a:cs typeface="Cambria"/>
              </a:rPr>
              <a:t>Dictionary</a:t>
            </a:r>
            <a:r>
              <a:rPr dirty="0" sz="1800" spc="310" b="1">
                <a:solidFill>
                  <a:srgbClr val="7E6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7E60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15925" y="1677739"/>
          <a:ext cx="7059930" cy="720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0320"/>
                <a:gridCol w="678180"/>
                <a:gridCol w="1272539"/>
                <a:gridCol w="1285875"/>
                <a:gridCol w="1259205"/>
                <a:gridCol w="1199515"/>
              </a:tblGrid>
              <a:tr h="4781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Column</a:t>
                      </a:r>
                      <a:r>
                        <a:rPr dirty="0" sz="1100" spc="24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240029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Variable</a:t>
                      </a:r>
                      <a:r>
                        <a:rPr dirty="0" sz="1100" spc="6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Description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Example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Missing</a:t>
                      </a:r>
                      <a:r>
                        <a:rPr dirty="0" sz="1200" spc="27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Values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715"/>
                </a:tc>
              </a:tr>
              <a:tr h="11976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State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11125" marR="39370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24460" marR="10541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100" spc="14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100" spc="14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State</a:t>
                      </a:r>
                      <a:r>
                        <a:rPr dirty="0" sz="1100" spc="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1100" spc="10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Union Territory</a:t>
                      </a:r>
                      <a:r>
                        <a:rPr dirty="0" sz="1100" spc="1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where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100" spc="15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r>
                        <a:rPr dirty="0" sz="1100" spc="16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is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located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Uttar</a:t>
                      </a:r>
                      <a:r>
                        <a:rPr dirty="0" sz="1200" spc="15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Pradesh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Possible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7715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District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11125" marR="39370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just" marL="124460" marR="17335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District</a:t>
                      </a:r>
                      <a:r>
                        <a:rPr dirty="0" sz="1100" spc="10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where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100" spc="15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r>
                        <a:rPr dirty="0" sz="1100" spc="16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is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located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Jaipur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Possible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9842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University</a:t>
                      </a:r>
                      <a:r>
                        <a:rPr dirty="0" sz="1100" spc="6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11125" marR="39370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24460" marR="23177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r>
                        <a:rPr dirty="0" sz="1100" spc="5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university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affiliating</a:t>
                      </a:r>
                      <a:r>
                        <a:rPr dirty="0" sz="1100" spc="27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college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7945" marR="311785">
                        <a:lnSpc>
                          <a:spcPct val="127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State</a:t>
                      </a:r>
                      <a:r>
                        <a:rPr dirty="0" sz="1200" spc="2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Public University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7715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University</a:t>
                      </a:r>
                      <a:r>
                        <a:rPr dirty="0" sz="1100" spc="6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11125" marR="39370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24460" marR="33464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100" spc="14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100" spc="14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affiliating university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7945" marR="292735">
                        <a:lnSpc>
                          <a:spcPct val="127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Pondicherry University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1060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College</a:t>
                      </a:r>
                      <a:r>
                        <a:rPr dirty="0" sz="1100" spc="204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11125" marR="39370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24460" marR="6032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Official</a:t>
                      </a:r>
                      <a:r>
                        <a:rPr dirty="0" sz="1100" spc="17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1100" spc="17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 the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college/institute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7945" marR="278765">
                        <a:lnSpc>
                          <a:spcPct val="127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Tagore Government </a:t>
                      </a: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College</a:t>
                      </a:r>
                      <a:r>
                        <a:rPr dirty="0" sz="1200" spc="24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 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Education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3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No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5975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College</a:t>
                      </a:r>
                      <a:r>
                        <a:rPr dirty="0" sz="1100" spc="204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11125" marR="393700">
                        <a:lnSpc>
                          <a:spcPct val="127000"/>
                        </a:lnSpc>
                        <a:spcBef>
                          <a:spcPts val="33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124460" marR="159385">
                        <a:lnSpc>
                          <a:spcPct val="127000"/>
                        </a:lnSpc>
                        <a:spcBef>
                          <a:spcPts val="33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Institutional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affiliation</a:t>
                      </a:r>
                      <a:r>
                        <a:rPr dirty="0" sz="1100" spc="254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67945" marR="494030">
                        <a:lnSpc>
                          <a:spcPct val="127000"/>
                        </a:lnSpc>
                        <a:spcBef>
                          <a:spcPts val="30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Affiliated College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7630"/>
                </a:tc>
              </a:tr>
              <a:tr h="8299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Address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Text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24460" marR="215900">
                        <a:lnSpc>
                          <a:spcPct val="127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Full</a:t>
                      </a:r>
                      <a:r>
                        <a:rPr dirty="0" sz="1100" spc="1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postal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address</a:t>
                      </a:r>
                      <a:r>
                        <a:rPr dirty="0" sz="1100" spc="4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100" spc="4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67945" marR="295275">
                        <a:lnSpc>
                          <a:spcPct val="127000"/>
                        </a:lnSpc>
                        <a:spcBef>
                          <a:spcPts val="300"/>
                        </a:spcBef>
                      </a:pP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Port</a:t>
                      </a:r>
                      <a:r>
                        <a:rPr dirty="0" sz="1200" spc="7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Blair, </a:t>
                      </a: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Andaman</a:t>
                      </a:r>
                      <a:r>
                        <a:rPr dirty="0" sz="1200" spc="3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13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&amp; 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Nicobar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7630"/>
                </a:tc>
              </a:tr>
              <a:tr h="5156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Website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50495" marR="110489">
                        <a:lnSpc>
                          <a:spcPct val="127000"/>
                        </a:lnSpc>
                        <a:spcBef>
                          <a:spcPts val="33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 (URL)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Text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24460" marR="122555">
                        <a:lnSpc>
                          <a:spcPct val="127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Official</a:t>
                      </a:r>
                      <a:r>
                        <a:rPr dirty="0" sz="1100" spc="2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website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100" spc="1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100" spc="114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67945" marR="59055">
                        <a:lnSpc>
                          <a:spcPct val="127000"/>
                        </a:lnSpc>
                        <a:spcBef>
                          <a:spcPts val="300"/>
                        </a:spcBef>
                      </a:pPr>
                      <a:r>
                        <a:rPr dirty="0" u="heavy" sz="1200" spc="-10" b="1">
                          <a:solidFill>
                            <a:srgbClr val="1154CC"/>
                          </a:solidFill>
                          <a:uFill>
                            <a:solidFill>
                              <a:srgbClr val="1154CC"/>
                            </a:solidFill>
                          </a:uFill>
                          <a:latin typeface="Cambria"/>
                          <a:cs typeface="Cambria"/>
                          <a:hlinkClick r:id="rId2"/>
                        </a:rPr>
                        <a:t>www.jnrm.and.</a:t>
                      </a:r>
                      <a:r>
                        <a:rPr dirty="0" sz="1200" spc="-10" b="1">
                          <a:solidFill>
                            <a:srgbClr val="1154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u="heavy" sz="1200" spc="-10" b="1">
                          <a:solidFill>
                            <a:srgbClr val="1154CC"/>
                          </a:solidFill>
                          <a:uFill>
                            <a:solidFill>
                              <a:srgbClr val="1154CC"/>
                            </a:solidFill>
                          </a:uFill>
                          <a:latin typeface="Cambria"/>
                          <a:cs typeface="Cambria"/>
                          <a:hlinkClick r:id="rId2"/>
                        </a:rPr>
                        <a:t>nic.in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763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15925" y="981075"/>
          <a:ext cx="6247130" cy="489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065"/>
                <a:gridCol w="721995"/>
                <a:gridCol w="1098550"/>
                <a:gridCol w="1408430"/>
                <a:gridCol w="1204595"/>
                <a:gridCol w="455295"/>
              </a:tblGrid>
              <a:tr h="904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Management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r>
                        <a:rPr dirty="0" sz="1100" spc="5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262890" marR="134620">
                        <a:lnSpc>
                          <a:spcPct val="127000"/>
                        </a:lnSpc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management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controlling</a:t>
                      </a:r>
                      <a:r>
                        <a:rPr dirty="0" sz="1100" spc="229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Private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Un-</a:t>
                      </a: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Aided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3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No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5715"/>
                </a:tc>
              </a:tr>
              <a:tr h="771525">
                <a:tc>
                  <a:txBody>
                    <a:bodyPr/>
                    <a:lstStyle/>
                    <a:p>
                      <a:pPr marL="31750" marR="28448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Year</a:t>
                      </a:r>
                      <a:r>
                        <a:rPr dirty="0" sz="1100" spc="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Establishment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Integer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75565" marR="32004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Numerical (Discrete)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62890" marR="27432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Year</a:t>
                      </a:r>
                      <a:r>
                        <a:rPr dirty="0" sz="1100" spc="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r>
                        <a:rPr dirty="0" sz="1100" spc="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was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established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1983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7715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Specialised</a:t>
                      </a:r>
                      <a:r>
                        <a:rPr dirty="0" sz="1100" spc="13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75565" marR="25527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62890" marR="13208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Area</a:t>
                      </a:r>
                      <a:r>
                        <a:rPr dirty="0" sz="1100" spc="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specialization</a:t>
                      </a:r>
                      <a:r>
                        <a:rPr dirty="0" sz="1100" spc="5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100" spc="1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100" spc="114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83185" marR="177165">
                        <a:lnSpc>
                          <a:spcPct val="127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Engineering, Medical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7715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Location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75565" marR="25527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Categorical (Nominal)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62890" marR="27114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Type</a:t>
                      </a:r>
                      <a:r>
                        <a:rPr dirty="0" sz="1100" spc="5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of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geographical location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Urban</a:t>
                      </a:r>
                      <a:r>
                        <a:rPr dirty="0" sz="1200" spc="9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/</a:t>
                      </a:r>
                      <a:r>
                        <a:rPr dirty="0" sz="1200" spc="9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Rural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7715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Upload</a:t>
                      </a:r>
                      <a:r>
                        <a:rPr dirty="0" sz="1100" spc="13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Year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Integer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75565" marR="32004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Numerical (Discrete)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62890" marR="9715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Year</a:t>
                      </a:r>
                      <a:r>
                        <a:rPr dirty="0" sz="1100" spc="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when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r>
                        <a:rPr dirty="0" sz="1100" spc="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record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was</a:t>
                      </a:r>
                      <a:r>
                        <a:rPr dirty="0" sz="1100" spc="4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uploaded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2020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  <a:tr h="904240">
                <a:tc>
                  <a:txBody>
                    <a:bodyPr/>
                    <a:lstStyle/>
                    <a:p>
                      <a:pPr marL="31750" marR="151765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100" spc="10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Added</a:t>
                      </a:r>
                      <a:r>
                        <a:rPr dirty="0" sz="1100" spc="9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1100" spc="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Survey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Year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Integer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marL="75565" marR="320040">
                        <a:lnSpc>
                          <a:spcPct val="1270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Numerical (Discrete)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62890" marR="75565">
                        <a:lnSpc>
                          <a:spcPct val="127000"/>
                        </a:lnSpc>
                        <a:spcBef>
                          <a:spcPts val="315"/>
                        </a:spcBef>
                      </a:pP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Year</a:t>
                      </a:r>
                      <a:r>
                        <a:rPr dirty="0" sz="1100" spc="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when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institute</a:t>
                      </a:r>
                      <a:r>
                        <a:rPr dirty="0" sz="1100" spc="2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was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added</a:t>
                      </a:r>
                      <a:r>
                        <a:rPr dirty="0" sz="1100" spc="6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100" spc="7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10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survey</a:t>
                      </a:r>
                      <a:r>
                        <a:rPr dirty="0" sz="1100" spc="-3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database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0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2019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25" b="1">
                          <a:solidFill>
                            <a:srgbClr val="7E6000"/>
                          </a:solidFill>
                          <a:latin typeface="Cambria"/>
                          <a:cs typeface="Cambria"/>
                        </a:rPr>
                        <a:t>Few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36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SectionD_Group1_PrivatisationTrendReport</dc:title>
  <dcterms:created xsi:type="dcterms:W3CDTF">2026-02-18T17:29:29Z</dcterms:created>
  <dcterms:modified xsi:type="dcterms:W3CDTF">2026-02-18T17:29:29Z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Producer">
    <vt:lpwstr>Skia/PDF m146 Google Docs Renderer</vt:lpwstr>
  </property>
  <property fmtid="{D5CDD505-2E9C-101B-9397-08002B2CF9AE}" pid="4" name="LastSaved">
    <vt:filetime>2026-02-18T00:00:00Z</vt:filetime>
  </property>
</Properties>
</file>